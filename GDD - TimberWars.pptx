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VT323" charset="1" panose="00000509000000000000"/>
      <p:regular r:id="rId17"/>
    </p:embeddedFont>
    <p:embeddedFont>
      <p:font typeface="Inter" charset="1" panose="02000503000000020004"/>
      <p:regular r:id="rId18"/>
    </p:embeddedFont>
    <p:embeddedFont>
      <p:font typeface="Inter Bold" charset="1" panose="02000503000000020004"/>
      <p:regular r:id="rId19"/>
    </p:embeddedFont>
    <p:embeddedFont>
      <p:font typeface="Calibri (MS)" charset="1" panose="020F050202020403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D2500"/>
        </a:solidFill>
      </p:bgPr>
    </p:bg>
    <p:spTree>
      <p:nvGrpSpPr>
        <p:cNvPr id="1" name=""/>
        <p:cNvGrpSpPr/>
        <p:nvPr/>
      </p:nvGrpSpPr>
      <p:grpSpPr>
        <a:xfrm>
          <a:off x="0" y="0"/>
          <a:ext cx="0" cy="0"/>
          <a:chOff x="0" y="0"/>
          <a:chExt cx="0" cy="0"/>
        </a:xfrm>
      </p:grpSpPr>
      <p:sp>
        <p:nvSpPr>
          <p:cNvPr name="Freeform 2" id="2"/>
          <p:cNvSpPr/>
          <p:nvPr/>
        </p:nvSpPr>
        <p:spPr>
          <a:xfrm flipH="true" flipV="false" rot="0">
            <a:off x="0" y="0"/>
            <a:ext cx="4203878" cy="4247966"/>
          </a:xfrm>
          <a:custGeom>
            <a:avLst/>
            <a:gdLst/>
            <a:ahLst/>
            <a:cxnLst/>
            <a:rect r="r" b="b" t="t" l="l"/>
            <a:pathLst>
              <a:path h="4247966" w="4203878">
                <a:moveTo>
                  <a:pt x="4203878" y="0"/>
                </a:moveTo>
                <a:lnTo>
                  <a:pt x="0" y="0"/>
                </a:lnTo>
                <a:lnTo>
                  <a:pt x="0" y="4247966"/>
                </a:lnTo>
                <a:lnTo>
                  <a:pt x="4203878" y="4247966"/>
                </a:lnTo>
                <a:lnTo>
                  <a:pt x="4203878" y="0"/>
                </a:lnTo>
                <a:close/>
              </a:path>
            </a:pathLst>
          </a:custGeom>
          <a:blipFill>
            <a:blip r:embed="rId2"/>
            <a:stretch>
              <a:fillRect l="0" t="0" r="-1048" b="0"/>
            </a:stretch>
          </a:blipFill>
        </p:spPr>
      </p:sp>
      <p:sp>
        <p:nvSpPr>
          <p:cNvPr name="TextBox 3" id="3"/>
          <p:cNvSpPr txBox="true"/>
          <p:nvPr/>
        </p:nvSpPr>
        <p:spPr>
          <a:xfrm rot="0">
            <a:off x="5339649" y="3623038"/>
            <a:ext cx="7608693" cy="1819275"/>
          </a:xfrm>
          <a:prstGeom prst="rect">
            <a:avLst/>
          </a:prstGeom>
        </p:spPr>
        <p:txBody>
          <a:bodyPr anchor="t" rtlCol="false" tIns="0" lIns="0" bIns="0" rIns="0">
            <a:spAutoFit/>
          </a:bodyPr>
          <a:lstStyle/>
          <a:p>
            <a:pPr algn="l">
              <a:lnSpc>
                <a:spcPts val="13500"/>
              </a:lnSpc>
            </a:pPr>
            <a:r>
              <a:rPr lang="en-US" sz="13500">
                <a:solidFill>
                  <a:srgbClr val="F5F0E6"/>
                </a:solidFill>
                <a:latin typeface="VT323"/>
                <a:ea typeface="VT323"/>
                <a:cs typeface="VT323"/>
                <a:sym typeface="VT323"/>
              </a:rPr>
              <a:t>TIMBER WARS</a:t>
            </a:r>
          </a:p>
        </p:txBody>
      </p:sp>
      <p:sp>
        <p:nvSpPr>
          <p:cNvPr name="TextBox 4" id="4"/>
          <p:cNvSpPr txBox="true"/>
          <p:nvPr/>
        </p:nvSpPr>
        <p:spPr>
          <a:xfrm rot="0">
            <a:off x="4688081" y="5562600"/>
            <a:ext cx="8911828" cy="752475"/>
          </a:xfrm>
          <a:prstGeom prst="rect">
            <a:avLst/>
          </a:prstGeom>
        </p:spPr>
        <p:txBody>
          <a:bodyPr anchor="t" rtlCol="false" tIns="0" lIns="0" bIns="0" rIns="0">
            <a:spAutoFit/>
          </a:bodyPr>
          <a:lstStyle/>
          <a:p>
            <a:pPr algn="ctr">
              <a:lnSpc>
                <a:spcPts val="2970"/>
              </a:lnSpc>
            </a:pPr>
            <a:r>
              <a:rPr lang="en-US" sz="2475">
                <a:solidFill>
                  <a:srgbClr val="A8A29E"/>
                </a:solidFill>
                <a:latin typeface="Inter"/>
                <a:ea typeface="Inter"/>
                <a:cs typeface="Inter"/>
                <a:sym typeface="Inter"/>
              </a:rPr>
              <a:t>Raúl Núñez González • Hugo Martínez Albendea</a:t>
            </a:r>
          </a:p>
          <a:p>
            <a:pPr algn="ctr">
              <a:lnSpc>
                <a:spcPts val="2970"/>
              </a:lnSpc>
            </a:pPr>
            <a:r>
              <a:rPr lang="en-US" sz="2475">
                <a:solidFill>
                  <a:srgbClr val="A8A29E"/>
                </a:solidFill>
                <a:latin typeface="Inter"/>
                <a:ea typeface="Inter"/>
                <a:cs typeface="Inter"/>
                <a:sym typeface="Inter"/>
              </a:rPr>
              <a:t> Leo Lin • Álvaro Ruiz Martínez</a:t>
            </a:r>
          </a:p>
        </p:txBody>
      </p:sp>
      <p:sp>
        <p:nvSpPr>
          <p:cNvPr name="TextBox 5" id="5"/>
          <p:cNvSpPr txBox="true"/>
          <p:nvPr/>
        </p:nvSpPr>
        <p:spPr>
          <a:xfrm rot="0">
            <a:off x="7829550" y="7277100"/>
            <a:ext cx="3286125" cy="295275"/>
          </a:xfrm>
          <a:prstGeom prst="rect">
            <a:avLst/>
          </a:prstGeom>
        </p:spPr>
        <p:txBody>
          <a:bodyPr anchor="t" rtlCol="false" tIns="0" lIns="0" bIns="0" rIns="0">
            <a:spAutoFit/>
          </a:bodyPr>
          <a:lstStyle/>
          <a:p>
            <a:pPr algn="l">
              <a:lnSpc>
                <a:spcPts val="2700"/>
              </a:lnSpc>
            </a:pPr>
            <a:r>
              <a:rPr lang="en-US" sz="2250">
                <a:solidFill>
                  <a:srgbClr val="FFFFFF"/>
                </a:solidFill>
                <a:latin typeface="VT323"/>
                <a:ea typeface="VT323"/>
                <a:cs typeface="VT323"/>
                <a:sym typeface="VT323"/>
              </a:rPr>
              <a:t>GRUPO H | JUEGOS EN RED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grpSp>
        <p:nvGrpSpPr>
          <p:cNvPr name="Group 2" id="2"/>
          <p:cNvGrpSpPr/>
          <p:nvPr/>
        </p:nvGrpSpPr>
        <p:grpSpPr>
          <a:xfrm rot="0">
            <a:off x="9429750" y="2286000"/>
            <a:ext cx="7943850" cy="7086600"/>
            <a:chOff x="0" y="0"/>
            <a:chExt cx="10591800" cy="9448800"/>
          </a:xfrm>
        </p:grpSpPr>
        <p:sp>
          <p:nvSpPr>
            <p:cNvPr name="Freeform 3" id="3"/>
            <p:cNvSpPr/>
            <p:nvPr/>
          </p:nvSpPr>
          <p:spPr>
            <a:xfrm flipH="false" flipV="false" rot="0">
              <a:off x="0" y="0"/>
              <a:ext cx="10591800" cy="9448800"/>
            </a:xfrm>
            <a:custGeom>
              <a:avLst/>
              <a:gdLst/>
              <a:ahLst/>
              <a:cxnLst/>
              <a:rect r="r" b="b" t="t" l="l"/>
              <a:pathLst>
                <a:path h="9448800" w="10591800">
                  <a:moveTo>
                    <a:pt x="0" y="0"/>
                  </a:moveTo>
                  <a:lnTo>
                    <a:pt x="10591800" y="0"/>
                  </a:lnTo>
                  <a:lnTo>
                    <a:pt x="10591800" y="9448800"/>
                  </a:lnTo>
                  <a:lnTo>
                    <a:pt x="0" y="9448800"/>
                  </a:lnTo>
                  <a:lnTo>
                    <a:pt x="0" y="0"/>
                  </a:lnTo>
                  <a:close/>
                </a:path>
              </a:pathLst>
            </a:custGeom>
            <a:blipFill>
              <a:blip r:embed="rId2"/>
              <a:stretch>
                <a:fillRect l="-29851" t="0" r="-29851" b="0"/>
              </a:stretch>
            </a:blipFill>
          </p:spPr>
        </p:sp>
      </p:grpSp>
      <p:sp>
        <p:nvSpPr>
          <p:cNvPr name="TextBox 4" id="4"/>
          <p:cNvSpPr txBox="true"/>
          <p:nvPr/>
        </p:nvSpPr>
        <p:spPr>
          <a:xfrm rot="0">
            <a:off x="914400" y="904875"/>
            <a:ext cx="17373600" cy="69532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VISIÓN GENERAL</a:t>
            </a:r>
          </a:p>
        </p:txBody>
      </p:sp>
      <p:sp>
        <p:nvSpPr>
          <p:cNvPr name="TextBox 5" id="5"/>
          <p:cNvSpPr txBox="true"/>
          <p:nvPr/>
        </p:nvSpPr>
        <p:spPr>
          <a:xfrm rot="0">
            <a:off x="914400" y="3371850"/>
            <a:ext cx="10426303" cy="400050"/>
          </a:xfrm>
          <a:prstGeom prst="rect">
            <a:avLst/>
          </a:prstGeom>
        </p:spPr>
        <p:txBody>
          <a:bodyPr anchor="t" rtlCol="false" tIns="0" lIns="0" bIns="0" rIns="0">
            <a:spAutoFit/>
          </a:bodyPr>
          <a:lstStyle/>
          <a:p>
            <a:pPr algn="l">
              <a:lnSpc>
                <a:spcPts val="3779"/>
              </a:lnSpc>
            </a:pPr>
            <a:r>
              <a:rPr lang="en-US" sz="3150">
                <a:solidFill>
                  <a:srgbClr val="166534"/>
                </a:solidFill>
                <a:latin typeface="VT323"/>
                <a:ea typeface="VT323"/>
                <a:cs typeface="VT323"/>
                <a:sym typeface="VT323"/>
              </a:rPr>
              <a:t>GÉNERO</a:t>
            </a:r>
          </a:p>
        </p:txBody>
      </p:sp>
      <p:sp>
        <p:nvSpPr>
          <p:cNvPr name="TextBox 6" id="6"/>
          <p:cNvSpPr txBox="true"/>
          <p:nvPr/>
        </p:nvSpPr>
        <p:spPr>
          <a:xfrm rot="0">
            <a:off x="914400" y="3876675"/>
            <a:ext cx="3453705" cy="381000"/>
          </a:xfrm>
          <a:prstGeom prst="rect">
            <a:avLst/>
          </a:prstGeom>
        </p:spPr>
        <p:txBody>
          <a:bodyPr anchor="t" rtlCol="false" tIns="0" lIns="0" bIns="0" rIns="0">
            <a:spAutoFit/>
          </a:bodyPr>
          <a:lstStyle/>
          <a:p>
            <a:pPr algn="l">
              <a:lnSpc>
                <a:spcPts val="2970"/>
              </a:lnSpc>
            </a:pPr>
            <a:r>
              <a:rPr lang="en-US" sz="2475">
                <a:solidFill>
                  <a:srgbClr val="292524"/>
                </a:solidFill>
                <a:latin typeface="Inter"/>
                <a:ea typeface="Inter"/>
                <a:cs typeface="Inter"/>
                <a:sym typeface="Inter"/>
              </a:rPr>
              <a:t>Arcade Multijugador 2D</a:t>
            </a:r>
          </a:p>
        </p:txBody>
      </p:sp>
      <p:sp>
        <p:nvSpPr>
          <p:cNvPr name="TextBox 7" id="7"/>
          <p:cNvSpPr txBox="true"/>
          <p:nvPr/>
        </p:nvSpPr>
        <p:spPr>
          <a:xfrm rot="0">
            <a:off x="914400" y="4714875"/>
            <a:ext cx="10426303" cy="400050"/>
          </a:xfrm>
          <a:prstGeom prst="rect">
            <a:avLst/>
          </a:prstGeom>
        </p:spPr>
        <p:txBody>
          <a:bodyPr anchor="t" rtlCol="false" tIns="0" lIns="0" bIns="0" rIns="0">
            <a:spAutoFit/>
          </a:bodyPr>
          <a:lstStyle/>
          <a:p>
            <a:pPr algn="l">
              <a:lnSpc>
                <a:spcPts val="3779"/>
              </a:lnSpc>
            </a:pPr>
            <a:r>
              <a:rPr lang="en-US" sz="3150">
                <a:solidFill>
                  <a:srgbClr val="166534"/>
                </a:solidFill>
                <a:latin typeface="VT323"/>
                <a:ea typeface="VT323"/>
                <a:cs typeface="VT323"/>
                <a:sym typeface="VT323"/>
              </a:rPr>
              <a:t>PLATAFORMA</a:t>
            </a:r>
          </a:p>
        </p:txBody>
      </p:sp>
      <p:sp>
        <p:nvSpPr>
          <p:cNvPr name="TextBox 8" id="8"/>
          <p:cNvSpPr txBox="true"/>
          <p:nvPr/>
        </p:nvSpPr>
        <p:spPr>
          <a:xfrm rot="0">
            <a:off x="914400" y="5219700"/>
            <a:ext cx="2374702" cy="381000"/>
          </a:xfrm>
          <a:prstGeom prst="rect">
            <a:avLst/>
          </a:prstGeom>
        </p:spPr>
        <p:txBody>
          <a:bodyPr anchor="t" rtlCol="false" tIns="0" lIns="0" bIns="0" rIns="0">
            <a:spAutoFit/>
          </a:bodyPr>
          <a:lstStyle/>
          <a:p>
            <a:pPr algn="l">
              <a:lnSpc>
                <a:spcPts val="2970"/>
              </a:lnSpc>
            </a:pPr>
            <a:r>
              <a:rPr lang="en-US" sz="2475">
                <a:solidFill>
                  <a:srgbClr val="292524"/>
                </a:solidFill>
                <a:latin typeface="Inter"/>
                <a:ea typeface="Inter"/>
                <a:cs typeface="Inter"/>
                <a:sym typeface="Inter"/>
              </a:rPr>
              <a:t>Navegador Web</a:t>
            </a:r>
          </a:p>
        </p:txBody>
      </p:sp>
      <p:sp>
        <p:nvSpPr>
          <p:cNvPr name="TextBox 9" id="9"/>
          <p:cNvSpPr txBox="true"/>
          <p:nvPr/>
        </p:nvSpPr>
        <p:spPr>
          <a:xfrm rot="0">
            <a:off x="914400" y="6057900"/>
            <a:ext cx="10426303" cy="400050"/>
          </a:xfrm>
          <a:prstGeom prst="rect">
            <a:avLst/>
          </a:prstGeom>
        </p:spPr>
        <p:txBody>
          <a:bodyPr anchor="t" rtlCol="false" tIns="0" lIns="0" bIns="0" rIns="0">
            <a:spAutoFit/>
          </a:bodyPr>
          <a:lstStyle/>
          <a:p>
            <a:pPr algn="l">
              <a:lnSpc>
                <a:spcPts val="3779"/>
              </a:lnSpc>
            </a:pPr>
            <a:r>
              <a:rPr lang="en-US" sz="3150">
                <a:solidFill>
                  <a:srgbClr val="166534"/>
                </a:solidFill>
                <a:latin typeface="VT323"/>
                <a:ea typeface="VT323"/>
                <a:cs typeface="VT323"/>
                <a:sym typeface="VT323"/>
              </a:rPr>
              <a:t>PÚBLICO OBJETIVO</a:t>
            </a:r>
          </a:p>
        </p:txBody>
      </p:sp>
      <p:sp>
        <p:nvSpPr>
          <p:cNvPr name="TextBox 10" id="10"/>
          <p:cNvSpPr txBox="true"/>
          <p:nvPr/>
        </p:nvSpPr>
        <p:spPr>
          <a:xfrm rot="0">
            <a:off x="914400" y="6562725"/>
            <a:ext cx="5915471" cy="381000"/>
          </a:xfrm>
          <a:prstGeom prst="rect">
            <a:avLst/>
          </a:prstGeom>
        </p:spPr>
        <p:txBody>
          <a:bodyPr anchor="t" rtlCol="false" tIns="0" lIns="0" bIns="0" rIns="0">
            <a:spAutoFit/>
          </a:bodyPr>
          <a:lstStyle/>
          <a:p>
            <a:pPr algn="l">
              <a:lnSpc>
                <a:spcPts val="2970"/>
              </a:lnSpc>
            </a:pPr>
            <a:r>
              <a:rPr lang="en-US" sz="2475">
                <a:solidFill>
                  <a:srgbClr val="292524"/>
                </a:solidFill>
                <a:latin typeface="Inter"/>
                <a:ea typeface="Inter"/>
                <a:cs typeface="Inter"/>
                <a:sym typeface="Inter"/>
              </a:rPr>
              <a:t>Jugadores casuales mayores de 12 años</a:t>
            </a:r>
          </a:p>
        </p:txBody>
      </p:sp>
      <p:sp>
        <p:nvSpPr>
          <p:cNvPr name="TextBox 11" id="11"/>
          <p:cNvSpPr txBox="true"/>
          <p:nvPr/>
        </p:nvSpPr>
        <p:spPr>
          <a:xfrm rot="0">
            <a:off x="914400" y="7400925"/>
            <a:ext cx="10426303" cy="400050"/>
          </a:xfrm>
          <a:prstGeom prst="rect">
            <a:avLst/>
          </a:prstGeom>
        </p:spPr>
        <p:txBody>
          <a:bodyPr anchor="t" rtlCol="false" tIns="0" lIns="0" bIns="0" rIns="0">
            <a:spAutoFit/>
          </a:bodyPr>
          <a:lstStyle/>
          <a:p>
            <a:pPr algn="l">
              <a:lnSpc>
                <a:spcPts val="3779"/>
              </a:lnSpc>
            </a:pPr>
            <a:r>
              <a:rPr lang="en-US" sz="3150">
                <a:solidFill>
                  <a:srgbClr val="166534"/>
                </a:solidFill>
                <a:latin typeface="VT323"/>
                <a:ea typeface="VT323"/>
                <a:cs typeface="VT323"/>
                <a:sym typeface="VT323"/>
              </a:rPr>
              <a:t>PREMISA</a:t>
            </a:r>
          </a:p>
        </p:txBody>
      </p:sp>
      <p:sp>
        <p:nvSpPr>
          <p:cNvPr name="TextBox 12" id="12"/>
          <p:cNvSpPr txBox="true"/>
          <p:nvPr/>
        </p:nvSpPr>
        <p:spPr>
          <a:xfrm rot="0">
            <a:off x="914400" y="7905750"/>
            <a:ext cx="6813798" cy="381000"/>
          </a:xfrm>
          <a:prstGeom prst="rect">
            <a:avLst/>
          </a:prstGeom>
        </p:spPr>
        <p:txBody>
          <a:bodyPr anchor="t" rtlCol="false" tIns="0" lIns="0" bIns="0" rIns="0">
            <a:spAutoFit/>
          </a:bodyPr>
          <a:lstStyle/>
          <a:p>
            <a:pPr algn="l">
              <a:lnSpc>
                <a:spcPts val="2970"/>
              </a:lnSpc>
            </a:pPr>
            <a:r>
              <a:rPr lang="en-US" sz="2475">
                <a:solidFill>
                  <a:srgbClr val="292524"/>
                </a:solidFill>
                <a:latin typeface="Inter"/>
                <a:ea typeface="Inter"/>
                <a:cs typeface="Inter"/>
                <a:sym typeface="Inter"/>
              </a:rPr>
              <a:t>Castores luchando a muerte por supervivencia</a:t>
            </a:r>
          </a:p>
        </p:txBody>
      </p:sp>
      <p:sp>
        <p:nvSpPr>
          <p:cNvPr name="TextBox 13" id="13"/>
          <p:cNvSpPr txBox="true"/>
          <p:nvPr/>
        </p:nvSpPr>
        <p:spPr>
          <a:xfrm rot="0">
            <a:off x="11307068" y="9324975"/>
            <a:ext cx="4189214" cy="260985"/>
          </a:xfrm>
          <a:prstGeom prst="rect">
            <a:avLst/>
          </a:prstGeom>
        </p:spPr>
        <p:txBody>
          <a:bodyPr anchor="t" rtlCol="false" tIns="0" lIns="0" bIns="0" rIns="0">
            <a:spAutoFit/>
          </a:bodyPr>
          <a:lstStyle/>
          <a:p>
            <a:pPr algn="ctr">
              <a:lnSpc>
                <a:spcPts val="2100"/>
              </a:lnSpc>
              <a:spcBef>
                <a:spcPct val="0"/>
              </a:spcBef>
            </a:pPr>
            <a:r>
              <a:rPr lang="en-US" sz="1400" u="sng">
                <a:solidFill>
                  <a:srgbClr val="000000"/>
                </a:solidFill>
                <a:latin typeface="Inter"/>
                <a:ea typeface="Inter"/>
                <a:cs typeface="Inter"/>
                <a:sym typeface="Inter"/>
              </a:rPr>
              <a:t>Imagen creada con IA a modo de referencia visual</a:t>
            </a:r>
            <a:r>
              <a:rPr lang="en-US" sz="1400">
                <a:solidFill>
                  <a:srgbClr val="000000"/>
                </a:solidFill>
                <a:latin typeface="Inter"/>
                <a:ea typeface="Inter"/>
                <a:cs typeface="Inter"/>
                <a:sym typeface="Inter"/>
              </a:rPr>
              <a: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grpSp>
        <p:nvGrpSpPr>
          <p:cNvPr name="Group 2" id="2"/>
          <p:cNvGrpSpPr/>
          <p:nvPr/>
        </p:nvGrpSpPr>
        <p:grpSpPr>
          <a:xfrm rot="0">
            <a:off x="914400" y="3144145"/>
            <a:ext cx="7943850" cy="5313159"/>
            <a:chOff x="0" y="0"/>
            <a:chExt cx="10591800" cy="7084212"/>
          </a:xfrm>
        </p:grpSpPr>
        <p:sp>
          <p:nvSpPr>
            <p:cNvPr name="Freeform 3" id="3" descr="image.png"/>
            <p:cNvSpPr/>
            <p:nvPr/>
          </p:nvSpPr>
          <p:spPr>
            <a:xfrm flipH="false" flipV="false" rot="0">
              <a:off x="0" y="0"/>
              <a:ext cx="10591800" cy="7084187"/>
            </a:xfrm>
            <a:custGeom>
              <a:avLst/>
              <a:gdLst/>
              <a:ahLst/>
              <a:cxnLst/>
              <a:rect r="r" b="b" t="t" l="l"/>
              <a:pathLst>
                <a:path h="7084187" w="10591800">
                  <a:moveTo>
                    <a:pt x="0" y="0"/>
                  </a:moveTo>
                  <a:lnTo>
                    <a:pt x="10591800" y="0"/>
                  </a:lnTo>
                  <a:lnTo>
                    <a:pt x="10591800" y="7084187"/>
                  </a:lnTo>
                  <a:lnTo>
                    <a:pt x="0" y="7084187"/>
                  </a:lnTo>
                  <a:lnTo>
                    <a:pt x="0" y="0"/>
                  </a:lnTo>
                  <a:close/>
                </a:path>
              </a:pathLst>
            </a:custGeom>
            <a:blipFill>
              <a:blip r:embed="rId2"/>
              <a:stretch>
                <a:fillRect l="0" t="-16" r="0" b="-17"/>
              </a:stretch>
            </a:blipFill>
          </p:spPr>
        </p:sp>
      </p:grpSp>
      <p:sp>
        <p:nvSpPr>
          <p:cNvPr name="TextBox 4" id="4"/>
          <p:cNvSpPr txBox="true"/>
          <p:nvPr/>
        </p:nvSpPr>
        <p:spPr>
          <a:xfrm rot="0">
            <a:off x="914400" y="904875"/>
            <a:ext cx="2468910" cy="82867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MECÁNICAS</a:t>
            </a:r>
          </a:p>
        </p:txBody>
      </p:sp>
      <p:sp>
        <p:nvSpPr>
          <p:cNvPr name="TextBox 5" id="5"/>
          <p:cNvSpPr txBox="true"/>
          <p:nvPr/>
        </p:nvSpPr>
        <p:spPr>
          <a:xfrm rot="0">
            <a:off x="9429750" y="3248025"/>
            <a:ext cx="8858250" cy="466725"/>
          </a:xfrm>
          <a:prstGeom prst="rect">
            <a:avLst/>
          </a:prstGeom>
        </p:spPr>
        <p:txBody>
          <a:bodyPr anchor="t" rtlCol="false" tIns="0" lIns="0" bIns="0" rIns="0">
            <a:spAutoFit/>
          </a:bodyPr>
          <a:lstStyle/>
          <a:p>
            <a:pPr algn="l">
              <a:lnSpc>
                <a:spcPts val="4320"/>
              </a:lnSpc>
            </a:pPr>
            <a:r>
              <a:rPr lang="en-US" sz="3600">
                <a:solidFill>
                  <a:srgbClr val="DC2626"/>
                </a:solidFill>
                <a:latin typeface="VT323"/>
                <a:ea typeface="VT323"/>
                <a:cs typeface="VT323"/>
                <a:sym typeface="VT323"/>
              </a:rPr>
              <a:t>MUERTE INSTANTÁNEA</a:t>
            </a:r>
          </a:p>
        </p:txBody>
      </p:sp>
      <p:sp>
        <p:nvSpPr>
          <p:cNvPr name="TextBox 6" id="6"/>
          <p:cNvSpPr txBox="true"/>
          <p:nvPr/>
        </p:nvSpPr>
        <p:spPr>
          <a:xfrm rot="0">
            <a:off x="9429750" y="4648200"/>
            <a:ext cx="8858250" cy="466725"/>
          </a:xfrm>
          <a:prstGeom prst="rect">
            <a:avLst/>
          </a:prstGeom>
        </p:spPr>
        <p:txBody>
          <a:bodyPr anchor="t" rtlCol="false" tIns="0" lIns="0" bIns="0" rIns="0">
            <a:spAutoFit/>
          </a:bodyPr>
          <a:lstStyle/>
          <a:p>
            <a:pPr algn="l">
              <a:lnSpc>
                <a:spcPts val="4320"/>
              </a:lnSpc>
            </a:pPr>
            <a:r>
              <a:rPr lang="en-US" sz="3600">
                <a:solidFill>
                  <a:srgbClr val="166534"/>
                </a:solidFill>
                <a:latin typeface="VT323"/>
                <a:ea typeface="VT323"/>
                <a:cs typeface="VT323"/>
                <a:sym typeface="VT323"/>
              </a:rPr>
              <a:t>MOVILIDAD ÁGIL</a:t>
            </a:r>
          </a:p>
        </p:txBody>
      </p:sp>
      <p:sp>
        <p:nvSpPr>
          <p:cNvPr name="TextBox 7" id="7"/>
          <p:cNvSpPr txBox="true"/>
          <p:nvPr/>
        </p:nvSpPr>
        <p:spPr>
          <a:xfrm rot="0">
            <a:off x="9429750" y="6048375"/>
            <a:ext cx="4389239" cy="552450"/>
          </a:xfrm>
          <a:prstGeom prst="rect">
            <a:avLst/>
          </a:prstGeom>
        </p:spPr>
        <p:txBody>
          <a:bodyPr anchor="t" rtlCol="false" tIns="0" lIns="0" bIns="0" rIns="0">
            <a:spAutoFit/>
          </a:bodyPr>
          <a:lstStyle/>
          <a:p>
            <a:pPr algn="l">
              <a:lnSpc>
                <a:spcPts val="4320"/>
              </a:lnSpc>
            </a:pPr>
            <a:r>
              <a:rPr lang="en-US" sz="3600">
                <a:solidFill>
                  <a:srgbClr val="166534"/>
                </a:solidFill>
                <a:latin typeface="VT323"/>
                <a:ea typeface="VT323"/>
                <a:cs typeface="VT323"/>
                <a:sym typeface="VT323"/>
              </a:rPr>
              <a:t>LIMITACIÓN DE INVENTARIO</a:t>
            </a:r>
          </a:p>
        </p:txBody>
      </p:sp>
      <p:sp>
        <p:nvSpPr>
          <p:cNvPr name="TextBox 8" id="8"/>
          <p:cNvSpPr txBox="true"/>
          <p:nvPr/>
        </p:nvSpPr>
        <p:spPr>
          <a:xfrm rot="0">
            <a:off x="9429750" y="7448550"/>
            <a:ext cx="2926110" cy="552450"/>
          </a:xfrm>
          <a:prstGeom prst="rect">
            <a:avLst/>
          </a:prstGeom>
        </p:spPr>
        <p:txBody>
          <a:bodyPr anchor="t" rtlCol="false" tIns="0" lIns="0" bIns="0" rIns="0">
            <a:spAutoFit/>
          </a:bodyPr>
          <a:lstStyle/>
          <a:p>
            <a:pPr algn="l">
              <a:lnSpc>
                <a:spcPts val="4320"/>
              </a:lnSpc>
            </a:pPr>
            <a:r>
              <a:rPr lang="en-US" sz="3600">
                <a:solidFill>
                  <a:srgbClr val="166534"/>
                </a:solidFill>
                <a:latin typeface="VT323"/>
                <a:ea typeface="VT323"/>
                <a:cs typeface="VT323"/>
                <a:sym typeface="VT323"/>
              </a:rPr>
              <a:t>SISTEMA DE MOFAS</a:t>
            </a:r>
          </a:p>
        </p:txBody>
      </p:sp>
      <p:sp>
        <p:nvSpPr>
          <p:cNvPr name="TextBox 9" id="9"/>
          <p:cNvSpPr txBox="true"/>
          <p:nvPr/>
        </p:nvSpPr>
        <p:spPr>
          <a:xfrm rot="0">
            <a:off x="1028700" y="8409680"/>
            <a:ext cx="7627608" cy="230505"/>
          </a:xfrm>
          <a:prstGeom prst="rect">
            <a:avLst/>
          </a:prstGeom>
        </p:spPr>
        <p:txBody>
          <a:bodyPr anchor="t" rtlCol="false" tIns="0" lIns="0" bIns="0" rIns="0">
            <a:spAutoFit/>
          </a:bodyPr>
          <a:lstStyle/>
          <a:p>
            <a:pPr algn="ctr">
              <a:lnSpc>
                <a:spcPts val="1800"/>
              </a:lnSpc>
              <a:spcBef>
                <a:spcPct val="0"/>
              </a:spcBef>
            </a:pPr>
            <a:r>
              <a:rPr lang="en-US" sz="1200" u="sng">
                <a:solidFill>
                  <a:srgbClr val="000000"/>
                </a:solidFill>
                <a:latin typeface="Inter"/>
                <a:ea typeface="Inter"/>
                <a:cs typeface="Inter"/>
                <a:sym typeface="Inter"/>
              </a:rPr>
              <a:t>captainskolot.itch.io/pixel-art-parallax-backgrounds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grpSp>
        <p:nvGrpSpPr>
          <p:cNvPr name="Group 2" id="2"/>
          <p:cNvGrpSpPr/>
          <p:nvPr/>
        </p:nvGrpSpPr>
        <p:grpSpPr>
          <a:xfrm rot="0">
            <a:off x="4314825" y="4800600"/>
            <a:ext cx="685800" cy="685800"/>
            <a:chOff x="0" y="0"/>
            <a:chExt cx="914400" cy="914400"/>
          </a:xfrm>
        </p:grpSpPr>
        <p:sp>
          <p:nvSpPr>
            <p:cNvPr name="Freeform 3" id="3"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2"/>
              <a:stretch>
                <a:fillRect l="0" t="0" r="0" b="0"/>
              </a:stretch>
            </a:blipFill>
          </p:spPr>
        </p:sp>
      </p:grpSp>
      <p:grpSp>
        <p:nvGrpSpPr>
          <p:cNvPr name="Group 4" id="4"/>
          <p:cNvGrpSpPr/>
          <p:nvPr/>
        </p:nvGrpSpPr>
        <p:grpSpPr>
          <a:xfrm rot="0">
            <a:off x="8758238" y="4800600"/>
            <a:ext cx="771525" cy="685800"/>
            <a:chOff x="0" y="0"/>
            <a:chExt cx="1028700" cy="914400"/>
          </a:xfrm>
        </p:grpSpPr>
        <p:sp>
          <p:nvSpPr>
            <p:cNvPr name="Freeform 5" id="5" descr="image.png"/>
            <p:cNvSpPr/>
            <p:nvPr/>
          </p:nvSpPr>
          <p:spPr>
            <a:xfrm flipH="false" flipV="false" rot="0">
              <a:off x="0" y="0"/>
              <a:ext cx="1028700" cy="914400"/>
            </a:xfrm>
            <a:custGeom>
              <a:avLst/>
              <a:gdLst/>
              <a:ahLst/>
              <a:cxnLst/>
              <a:rect r="r" b="b" t="t" l="l"/>
              <a:pathLst>
                <a:path h="914400" w="1028700">
                  <a:moveTo>
                    <a:pt x="0" y="0"/>
                  </a:moveTo>
                  <a:lnTo>
                    <a:pt x="1028700" y="0"/>
                  </a:lnTo>
                  <a:lnTo>
                    <a:pt x="1028700" y="914400"/>
                  </a:lnTo>
                  <a:lnTo>
                    <a:pt x="0" y="914400"/>
                  </a:lnTo>
                  <a:lnTo>
                    <a:pt x="0" y="0"/>
                  </a:lnTo>
                  <a:close/>
                </a:path>
              </a:pathLst>
            </a:custGeom>
            <a:blipFill>
              <a:blip r:embed="rId3"/>
              <a:stretch>
                <a:fillRect l="0" t="0" r="0" b="0"/>
              </a:stretch>
            </a:blipFill>
          </p:spPr>
        </p:sp>
      </p:grpSp>
      <p:grpSp>
        <p:nvGrpSpPr>
          <p:cNvPr name="Group 6" id="6"/>
          <p:cNvGrpSpPr/>
          <p:nvPr/>
        </p:nvGrpSpPr>
        <p:grpSpPr>
          <a:xfrm rot="0">
            <a:off x="13287375" y="4800600"/>
            <a:ext cx="685800" cy="685800"/>
            <a:chOff x="0" y="0"/>
            <a:chExt cx="914400" cy="914400"/>
          </a:xfrm>
        </p:grpSpPr>
        <p:sp>
          <p:nvSpPr>
            <p:cNvPr name="Freeform 7" id="7"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sp>
        <p:nvSpPr>
          <p:cNvPr name="TextBox 8" id="8"/>
          <p:cNvSpPr txBox="true"/>
          <p:nvPr/>
        </p:nvSpPr>
        <p:spPr>
          <a:xfrm rot="0">
            <a:off x="5759196" y="3190875"/>
            <a:ext cx="6769598" cy="695325"/>
          </a:xfrm>
          <a:prstGeom prst="rect">
            <a:avLst/>
          </a:prstGeom>
        </p:spPr>
        <p:txBody>
          <a:bodyPr anchor="t" rtlCol="false" tIns="0" lIns="0" bIns="0" rIns="0">
            <a:spAutoFit/>
          </a:bodyPr>
          <a:lstStyle/>
          <a:p>
            <a:pPr algn="ctr">
              <a:lnSpc>
                <a:spcPts val="6480"/>
              </a:lnSpc>
            </a:pPr>
            <a:r>
              <a:rPr lang="en-US" sz="5400">
                <a:solidFill>
                  <a:srgbClr val="78350F"/>
                </a:solidFill>
                <a:latin typeface="VT323"/>
                <a:ea typeface="VT323"/>
                <a:cs typeface="VT323"/>
                <a:sym typeface="VT323"/>
              </a:rPr>
              <a:t>FÍSICAS DEL ENTORNO</a:t>
            </a:r>
          </a:p>
        </p:txBody>
      </p:sp>
      <p:sp>
        <p:nvSpPr>
          <p:cNvPr name="TextBox 9" id="9"/>
          <p:cNvSpPr txBox="true"/>
          <p:nvPr/>
        </p:nvSpPr>
        <p:spPr>
          <a:xfrm rot="0">
            <a:off x="2313680" y="5829300"/>
            <a:ext cx="4688081" cy="400050"/>
          </a:xfrm>
          <a:prstGeom prst="rect">
            <a:avLst/>
          </a:prstGeom>
        </p:spPr>
        <p:txBody>
          <a:bodyPr anchor="t" rtlCol="false" tIns="0" lIns="0" bIns="0" rIns="0">
            <a:spAutoFit/>
          </a:bodyPr>
          <a:lstStyle/>
          <a:p>
            <a:pPr algn="ctr">
              <a:lnSpc>
                <a:spcPts val="3779"/>
              </a:lnSpc>
            </a:pPr>
            <a:r>
              <a:rPr lang="en-US" sz="3150">
                <a:solidFill>
                  <a:srgbClr val="292524"/>
                </a:solidFill>
                <a:latin typeface="VT323"/>
                <a:ea typeface="VT323"/>
                <a:cs typeface="VT323"/>
                <a:sym typeface="VT323"/>
              </a:rPr>
              <a:t>RETROCESO</a:t>
            </a:r>
          </a:p>
        </p:txBody>
      </p:sp>
      <p:sp>
        <p:nvSpPr>
          <p:cNvPr name="TextBox 10" id="10"/>
          <p:cNvSpPr txBox="true"/>
          <p:nvPr/>
        </p:nvSpPr>
        <p:spPr>
          <a:xfrm rot="0">
            <a:off x="6799955" y="5829300"/>
            <a:ext cx="4688081" cy="400050"/>
          </a:xfrm>
          <a:prstGeom prst="rect">
            <a:avLst/>
          </a:prstGeom>
        </p:spPr>
        <p:txBody>
          <a:bodyPr anchor="t" rtlCol="false" tIns="0" lIns="0" bIns="0" rIns="0">
            <a:spAutoFit/>
          </a:bodyPr>
          <a:lstStyle/>
          <a:p>
            <a:pPr algn="ctr">
              <a:lnSpc>
                <a:spcPts val="3779"/>
              </a:lnSpc>
            </a:pPr>
            <a:r>
              <a:rPr lang="en-US" sz="3150">
                <a:solidFill>
                  <a:srgbClr val="292524"/>
                </a:solidFill>
                <a:latin typeface="VT323"/>
                <a:ea typeface="VT323"/>
                <a:cs typeface="VT323"/>
                <a:sym typeface="VT323"/>
              </a:rPr>
              <a:t>GRAVEDAD</a:t>
            </a:r>
          </a:p>
        </p:txBody>
      </p:sp>
      <p:sp>
        <p:nvSpPr>
          <p:cNvPr name="TextBox 11" id="11"/>
          <p:cNvSpPr txBox="true"/>
          <p:nvPr/>
        </p:nvSpPr>
        <p:spPr>
          <a:xfrm rot="0">
            <a:off x="13150151" y="5829300"/>
            <a:ext cx="960239" cy="476250"/>
          </a:xfrm>
          <a:prstGeom prst="rect">
            <a:avLst/>
          </a:prstGeom>
        </p:spPr>
        <p:txBody>
          <a:bodyPr anchor="t" rtlCol="false" tIns="0" lIns="0" bIns="0" rIns="0">
            <a:spAutoFit/>
          </a:bodyPr>
          <a:lstStyle/>
          <a:p>
            <a:pPr algn="ctr">
              <a:lnSpc>
                <a:spcPts val="3779"/>
              </a:lnSpc>
            </a:pPr>
            <a:r>
              <a:rPr lang="en-US" sz="3150">
                <a:solidFill>
                  <a:srgbClr val="292524"/>
                </a:solidFill>
                <a:latin typeface="VT323"/>
                <a:ea typeface="VT323"/>
                <a:cs typeface="VT323"/>
                <a:sym typeface="VT323"/>
              </a:rPr>
              <a:t>MUERTE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grpSp>
        <p:nvGrpSpPr>
          <p:cNvPr name="Group 2" id="2"/>
          <p:cNvGrpSpPr/>
          <p:nvPr/>
        </p:nvGrpSpPr>
        <p:grpSpPr>
          <a:xfrm rot="0">
            <a:off x="1485900" y="2857500"/>
            <a:ext cx="15316200" cy="57150"/>
            <a:chOff x="0" y="0"/>
            <a:chExt cx="20421600" cy="76200"/>
          </a:xfrm>
        </p:grpSpPr>
        <p:sp>
          <p:nvSpPr>
            <p:cNvPr name="Freeform 3" id="3"/>
            <p:cNvSpPr/>
            <p:nvPr/>
          </p:nvSpPr>
          <p:spPr>
            <a:xfrm flipH="false" flipV="false" rot="0">
              <a:off x="0" y="0"/>
              <a:ext cx="20421600" cy="76200"/>
            </a:xfrm>
            <a:custGeom>
              <a:avLst/>
              <a:gdLst/>
              <a:ahLst/>
              <a:cxnLst/>
              <a:rect r="r" b="b" t="t" l="l"/>
              <a:pathLst>
                <a:path h="76200" w="20421600">
                  <a:moveTo>
                    <a:pt x="0" y="0"/>
                  </a:moveTo>
                  <a:lnTo>
                    <a:pt x="20421600" y="0"/>
                  </a:lnTo>
                  <a:lnTo>
                    <a:pt x="20421600" y="76200"/>
                  </a:lnTo>
                  <a:lnTo>
                    <a:pt x="0" y="76200"/>
                  </a:lnTo>
                  <a:close/>
                </a:path>
              </a:pathLst>
            </a:custGeom>
            <a:solidFill>
              <a:srgbClr val="D6D3D1"/>
            </a:solidFill>
          </p:spPr>
        </p:sp>
      </p:grpSp>
      <p:sp>
        <p:nvSpPr>
          <p:cNvPr name="TextBox 4" id="4"/>
          <p:cNvSpPr txBox="true"/>
          <p:nvPr/>
        </p:nvSpPr>
        <p:spPr>
          <a:xfrm rot="0">
            <a:off x="914400" y="904875"/>
            <a:ext cx="17373600" cy="69532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PROGRESIÓN DE LA PARTIDA</a:t>
            </a:r>
          </a:p>
        </p:txBody>
      </p:sp>
      <p:grpSp>
        <p:nvGrpSpPr>
          <p:cNvPr name="Group 5" id="5"/>
          <p:cNvGrpSpPr/>
          <p:nvPr/>
        </p:nvGrpSpPr>
        <p:grpSpPr>
          <a:xfrm rot="0">
            <a:off x="1971675" y="2514600"/>
            <a:ext cx="742950" cy="742950"/>
            <a:chOff x="0" y="0"/>
            <a:chExt cx="990600" cy="990600"/>
          </a:xfrm>
        </p:grpSpPr>
        <p:sp>
          <p:nvSpPr>
            <p:cNvPr name="Freeform 6" id="6"/>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166534"/>
            </a:solidFill>
          </p:spPr>
        </p:sp>
      </p:grpSp>
      <p:grpSp>
        <p:nvGrpSpPr>
          <p:cNvPr name="Group 7" id="7"/>
          <p:cNvGrpSpPr/>
          <p:nvPr/>
        </p:nvGrpSpPr>
        <p:grpSpPr>
          <a:xfrm rot="0">
            <a:off x="6505499" y="2514600"/>
            <a:ext cx="742950" cy="742950"/>
            <a:chOff x="0" y="0"/>
            <a:chExt cx="990600" cy="990600"/>
          </a:xfrm>
        </p:grpSpPr>
        <p:sp>
          <p:nvSpPr>
            <p:cNvPr name="Freeform 8" id="8"/>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166534"/>
            </a:solidFill>
          </p:spPr>
        </p:sp>
      </p:grpSp>
      <p:grpSp>
        <p:nvGrpSpPr>
          <p:cNvPr name="Group 9" id="9"/>
          <p:cNvGrpSpPr/>
          <p:nvPr/>
        </p:nvGrpSpPr>
        <p:grpSpPr>
          <a:xfrm rot="0">
            <a:off x="11039323" y="2514600"/>
            <a:ext cx="742950" cy="742950"/>
            <a:chOff x="0" y="0"/>
            <a:chExt cx="990600" cy="990600"/>
          </a:xfrm>
        </p:grpSpPr>
        <p:sp>
          <p:nvSpPr>
            <p:cNvPr name="Freeform 10" id="10"/>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166534"/>
            </a:solidFill>
          </p:spPr>
        </p:sp>
      </p:grpSp>
      <p:grpSp>
        <p:nvGrpSpPr>
          <p:cNvPr name="Group 11" id="11"/>
          <p:cNvGrpSpPr/>
          <p:nvPr/>
        </p:nvGrpSpPr>
        <p:grpSpPr>
          <a:xfrm rot="0">
            <a:off x="15573156" y="2514600"/>
            <a:ext cx="742950" cy="742950"/>
            <a:chOff x="0" y="0"/>
            <a:chExt cx="990600" cy="990600"/>
          </a:xfrm>
        </p:grpSpPr>
        <p:sp>
          <p:nvSpPr>
            <p:cNvPr name="Freeform 12" id="12"/>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78350F"/>
            </a:solidFill>
          </p:spPr>
        </p:sp>
      </p:grpSp>
      <p:grpSp>
        <p:nvGrpSpPr>
          <p:cNvPr name="Group 13" id="13"/>
          <p:cNvGrpSpPr/>
          <p:nvPr/>
        </p:nvGrpSpPr>
        <p:grpSpPr>
          <a:xfrm rot="0">
            <a:off x="1757362" y="2514600"/>
            <a:ext cx="1171575" cy="742950"/>
            <a:chOff x="0" y="0"/>
            <a:chExt cx="1562100" cy="990600"/>
          </a:xfrm>
        </p:grpSpPr>
        <p:sp>
          <p:nvSpPr>
            <p:cNvPr name="Freeform 14" id="14"/>
            <p:cNvSpPr/>
            <p:nvPr/>
          </p:nvSpPr>
          <p:spPr>
            <a:xfrm flipH="false" flipV="false" rot="0">
              <a:off x="0" y="0"/>
              <a:ext cx="1562100" cy="990600"/>
            </a:xfrm>
            <a:custGeom>
              <a:avLst/>
              <a:gdLst/>
              <a:ahLst/>
              <a:cxnLst/>
              <a:rect r="r" b="b" t="t" l="l"/>
              <a:pathLst>
                <a:path h="990600" w="1562100">
                  <a:moveTo>
                    <a:pt x="0" y="0"/>
                  </a:moveTo>
                  <a:lnTo>
                    <a:pt x="1562100" y="0"/>
                  </a:lnTo>
                  <a:lnTo>
                    <a:pt x="1562100" y="990600"/>
                  </a:lnTo>
                  <a:lnTo>
                    <a:pt x="0" y="990600"/>
                  </a:lnTo>
                  <a:close/>
                </a:path>
              </a:pathLst>
            </a:custGeom>
            <a:blipFill>
              <a:blip r:embed="rId2">
                <a:alphaModFix amt="0"/>
              </a:blip>
              <a:stretch>
                <a:fillRect l="-31363" t="0" r="-31363" b="0"/>
              </a:stretch>
            </a:blipFill>
          </p:spPr>
        </p:sp>
        <p:sp>
          <p:nvSpPr>
            <p:cNvPr name="TextBox 15" id="15"/>
            <p:cNvSpPr txBox="true"/>
            <p:nvPr/>
          </p:nvSpPr>
          <p:spPr>
            <a:xfrm>
              <a:off x="0" y="0"/>
              <a:ext cx="1562100" cy="990600"/>
            </a:xfrm>
            <a:prstGeom prst="rect">
              <a:avLst/>
            </a:prstGeom>
          </p:spPr>
          <p:txBody>
            <a:bodyPr anchor="ctr" rtlCol="false" tIns="0" lIns="0" bIns="0" rIns="0"/>
            <a:lstStyle/>
            <a:p>
              <a:pPr algn="ctr">
                <a:lnSpc>
                  <a:spcPts val="3240"/>
                </a:lnSpc>
              </a:pPr>
              <a:r>
                <a:rPr lang="en-US" sz="2700" b="true">
                  <a:solidFill>
                    <a:srgbClr val="FFFFFF"/>
                  </a:solidFill>
                  <a:latin typeface="Inter Bold"/>
                  <a:ea typeface="Inter Bold"/>
                  <a:cs typeface="Inter Bold"/>
                  <a:sym typeface="Inter Bold"/>
                </a:rPr>
                <a:t>1</a:t>
              </a:r>
            </a:p>
          </p:txBody>
        </p:sp>
      </p:grpSp>
      <p:sp>
        <p:nvSpPr>
          <p:cNvPr name="TextBox 16" id="16"/>
          <p:cNvSpPr txBox="true"/>
          <p:nvPr/>
        </p:nvSpPr>
        <p:spPr>
          <a:xfrm rot="0">
            <a:off x="1518047" y="3476625"/>
            <a:ext cx="1650206" cy="352425"/>
          </a:xfrm>
          <a:prstGeom prst="rect">
            <a:avLst/>
          </a:prstGeom>
        </p:spPr>
        <p:txBody>
          <a:bodyPr anchor="t" rtlCol="false" tIns="0" lIns="0" bIns="0" rIns="0">
            <a:spAutoFit/>
          </a:bodyPr>
          <a:lstStyle/>
          <a:p>
            <a:pPr algn="ctr">
              <a:lnSpc>
                <a:spcPts val="3240"/>
              </a:lnSpc>
            </a:pPr>
            <a:r>
              <a:rPr lang="en-US" sz="2700">
                <a:solidFill>
                  <a:srgbClr val="292524"/>
                </a:solidFill>
                <a:latin typeface="VT323"/>
                <a:ea typeface="VT323"/>
                <a:cs typeface="VT323"/>
                <a:sym typeface="VT323"/>
              </a:rPr>
              <a:t>CREACIÓN</a:t>
            </a:r>
          </a:p>
        </p:txBody>
      </p:sp>
      <p:sp>
        <p:nvSpPr>
          <p:cNvPr name="TextBox 17" id="17"/>
          <p:cNvSpPr txBox="true"/>
          <p:nvPr/>
        </p:nvSpPr>
        <p:spPr>
          <a:xfrm rot="0">
            <a:off x="557212" y="3933825"/>
            <a:ext cx="3571875" cy="314325"/>
          </a:xfrm>
          <a:prstGeom prst="rect">
            <a:avLst/>
          </a:prstGeom>
        </p:spPr>
        <p:txBody>
          <a:bodyPr anchor="t" rtlCol="false" tIns="0" lIns="0" bIns="0" rIns="0">
            <a:spAutoFit/>
          </a:bodyPr>
          <a:lstStyle/>
          <a:p>
            <a:pPr algn="ctr">
              <a:lnSpc>
                <a:spcPts val="2430"/>
              </a:lnSpc>
            </a:pPr>
            <a:r>
              <a:rPr lang="en-US" sz="2025">
                <a:solidFill>
                  <a:srgbClr val="57534E"/>
                </a:solidFill>
                <a:latin typeface="Inter"/>
                <a:ea typeface="Inter"/>
                <a:cs typeface="Inter"/>
                <a:sym typeface="Inter"/>
              </a:rPr>
              <a:t>Sala local o servidor online</a:t>
            </a:r>
          </a:p>
        </p:txBody>
      </p:sp>
      <p:grpSp>
        <p:nvGrpSpPr>
          <p:cNvPr name="Group 18" id="18"/>
          <p:cNvGrpSpPr/>
          <p:nvPr/>
        </p:nvGrpSpPr>
        <p:grpSpPr>
          <a:xfrm rot="0">
            <a:off x="6291186" y="2514600"/>
            <a:ext cx="1171575" cy="742950"/>
            <a:chOff x="0" y="0"/>
            <a:chExt cx="1562100" cy="990600"/>
          </a:xfrm>
        </p:grpSpPr>
        <p:sp>
          <p:nvSpPr>
            <p:cNvPr name="Freeform 19" id="19"/>
            <p:cNvSpPr/>
            <p:nvPr/>
          </p:nvSpPr>
          <p:spPr>
            <a:xfrm flipH="false" flipV="false" rot="0">
              <a:off x="0" y="0"/>
              <a:ext cx="1562100" cy="990600"/>
            </a:xfrm>
            <a:custGeom>
              <a:avLst/>
              <a:gdLst/>
              <a:ahLst/>
              <a:cxnLst/>
              <a:rect r="r" b="b" t="t" l="l"/>
              <a:pathLst>
                <a:path h="990600" w="1562100">
                  <a:moveTo>
                    <a:pt x="0" y="0"/>
                  </a:moveTo>
                  <a:lnTo>
                    <a:pt x="1562100" y="0"/>
                  </a:lnTo>
                  <a:lnTo>
                    <a:pt x="1562100" y="990600"/>
                  </a:lnTo>
                  <a:lnTo>
                    <a:pt x="0" y="990600"/>
                  </a:lnTo>
                  <a:close/>
                </a:path>
              </a:pathLst>
            </a:custGeom>
            <a:blipFill>
              <a:blip r:embed="rId2">
                <a:alphaModFix amt="0"/>
              </a:blip>
              <a:stretch>
                <a:fillRect l="-31363" t="0" r="-31363" b="0"/>
              </a:stretch>
            </a:blipFill>
          </p:spPr>
        </p:sp>
        <p:sp>
          <p:nvSpPr>
            <p:cNvPr name="TextBox 20" id="20"/>
            <p:cNvSpPr txBox="true"/>
            <p:nvPr/>
          </p:nvSpPr>
          <p:spPr>
            <a:xfrm>
              <a:off x="0" y="0"/>
              <a:ext cx="1562100" cy="990600"/>
            </a:xfrm>
            <a:prstGeom prst="rect">
              <a:avLst/>
            </a:prstGeom>
          </p:spPr>
          <p:txBody>
            <a:bodyPr anchor="ctr" rtlCol="false" tIns="0" lIns="0" bIns="0" rIns="0"/>
            <a:lstStyle/>
            <a:p>
              <a:pPr algn="ctr">
                <a:lnSpc>
                  <a:spcPts val="3240"/>
                </a:lnSpc>
              </a:pPr>
              <a:r>
                <a:rPr lang="en-US" sz="2700" b="true">
                  <a:solidFill>
                    <a:srgbClr val="FFFFFF"/>
                  </a:solidFill>
                  <a:latin typeface="Inter Bold"/>
                  <a:ea typeface="Inter Bold"/>
                  <a:cs typeface="Inter Bold"/>
                  <a:sym typeface="Inter Bold"/>
                </a:rPr>
                <a:t>2</a:t>
              </a:r>
            </a:p>
          </p:txBody>
        </p:sp>
      </p:grpSp>
      <p:sp>
        <p:nvSpPr>
          <p:cNvPr name="TextBox 21" id="21"/>
          <p:cNvSpPr txBox="true"/>
          <p:nvPr/>
        </p:nvSpPr>
        <p:spPr>
          <a:xfrm rot="0">
            <a:off x="6201889" y="3476625"/>
            <a:ext cx="1350169" cy="352425"/>
          </a:xfrm>
          <a:prstGeom prst="rect">
            <a:avLst/>
          </a:prstGeom>
        </p:spPr>
        <p:txBody>
          <a:bodyPr anchor="t" rtlCol="false" tIns="0" lIns="0" bIns="0" rIns="0">
            <a:spAutoFit/>
          </a:bodyPr>
          <a:lstStyle/>
          <a:p>
            <a:pPr algn="ctr">
              <a:lnSpc>
                <a:spcPts val="3240"/>
              </a:lnSpc>
            </a:pPr>
            <a:r>
              <a:rPr lang="en-US" sz="2700">
                <a:solidFill>
                  <a:srgbClr val="292524"/>
                </a:solidFill>
                <a:latin typeface="VT323"/>
                <a:ea typeface="VT323"/>
                <a:cs typeface="VT323"/>
                <a:sym typeface="VT323"/>
              </a:rPr>
              <a:t>RONDAS</a:t>
            </a:r>
          </a:p>
        </p:txBody>
      </p:sp>
      <p:grpSp>
        <p:nvGrpSpPr>
          <p:cNvPr name="Group 22" id="22"/>
          <p:cNvGrpSpPr/>
          <p:nvPr/>
        </p:nvGrpSpPr>
        <p:grpSpPr>
          <a:xfrm rot="0">
            <a:off x="10825010" y="2514600"/>
            <a:ext cx="1171575" cy="742950"/>
            <a:chOff x="0" y="0"/>
            <a:chExt cx="1562100" cy="990600"/>
          </a:xfrm>
        </p:grpSpPr>
        <p:sp>
          <p:nvSpPr>
            <p:cNvPr name="Freeform 23" id="23"/>
            <p:cNvSpPr/>
            <p:nvPr/>
          </p:nvSpPr>
          <p:spPr>
            <a:xfrm flipH="false" flipV="false" rot="0">
              <a:off x="0" y="0"/>
              <a:ext cx="1562100" cy="990600"/>
            </a:xfrm>
            <a:custGeom>
              <a:avLst/>
              <a:gdLst/>
              <a:ahLst/>
              <a:cxnLst/>
              <a:rect r="r" b="b" t="t" l="l"/>
              <a:pathLst>
                <a:path h="990600" w="1562100">
                  <a:moveTo>
                    <a:pt x="0" y="0"/>
                  </a:moveTo>
                  <a:lnTo>
                    <a:pt x="1562100" y="0"/>
                  </a:lnTo>
                  <a:lnTo>
                    <a:pt x="1562100" y="990600"/>
                  </a:lnTo>
                  <a:lnTo>
                    <a:pt x="0" y="990600"/>
                  </a:lnTo>
                  <a:close/>
                </a:path>
              </a:pathLst>
            </a:custGeom>
            <a:blipFill>
              <a:blip r:embed="rId2">
                <a:alphaModFix amt="0"/>
              </a:blip>
              <a:stretch>
                <a:fillRect l="-31363" t="0" r="-31363" b="0"/>
              </a:stretch>
            </a:blipFill>
          </p:spPr>
        </p:sp>
        <p:sp>
          <p:nvSpPr>
            <p:cNvPr name="TextBox 24" id="24"/>
            <p:cNvSpPr txBox="true"/>
            <p:nvPr/>
          </p:nvSpPr>
          <p:spPr>
            <a:xfrm>
              <a:off x="0" y="0"/>
              <a:ext cx="1562100" cy="990600"/>
            </a:xfrm>
            <a:prstGeom prst="rect">
              <a:avLst/>
            </a:prstGeom>
          </p:spPr>
          <p:txBody>
            <a:bodyPr anchor="ctr" rtlCol="false" tIns="0" lIns="0" bIns="0" rIns="0"/>
            <a:lstStyle/>
            <a:p>
              <a:pPr algn="ctr">
                <a:lnSpc>
                  <a:spcPts val="3240"/>
                </a:lnSpc>
              </a:pPr>
              <a:r>
                <a:rPr lang="en-US" sz="2700" b="true">
                  <a:solidFill>
                    <a:srgbClr val="FFFFFF"/>
                  </a:solidFill>
                  <a:latin typeface="Inter Bold"/>
                  <a:ea typeface="Inter Bold"/>
                  <a:cs typeface="Inter Bold"/>
                  <a:sym typeface="Inter Bold"/>
                </a:rPr>
                <a:t>3</a:t>
              </a:r>
            </a:p>
          </p:txBody>
        </p:sp>
      </p:grpSp>
      <p:sp>
        <p:nvSpPr>
          <p:cNvPr name="TextBox 25" id="25"/>
          <p:cNvSpPr txBox="true"/>
          <p:nvPr/>
        </p:nvSpPr>
        <p:spPr>
          <a:xfrm rot="0">
            <a:off x="10660704" y="3476625"/>
            <a:ext cx="1500188" cy="352425"/>
          </a:xfrm>
          <a:prstGeom prst="rect">
            <a:avLst/>
          </a:prstGeom>
        </p:spPr>
        <p:txBody>
          <a:bodyPr anchor="t" rtlCol="false" tIns="0" lIns="0" bIns="0" rIns="0">
            <a:spAutoFit/>
          </a:bodyPr>
          <a:lstStyle/>
          <a:p>
            <a:pPr algn="ctr">
              <a:lnSpc>
                <a:spcPts val="3240"/>
              </a:lnSpc>
            </a:pPr>
            <a:r>
              <a:rPr lang="en-US" sz="2700">
                <a:solidFill>
                  <a:srgbClr val="292524"/>
                </a:solidFill>
                <a:latin typeface="VT323"/>
                <a:ea typeface="VT323"/>
                <a:cs typeface="VT323"/>
                <a:sym typeface="VT323"/>
              </a:rPr>
              <a:t>COMBATE</a:t>
            </a:r>
          </a:p>
        </p:txBody>
      </p:sp>
      <p:sp>
        <p:nvSpPr>
          <p:cNvPr name="TextBox 26" id="26"/>
          <p:cNvSpPr txBox="true"/>
          <p:nvPr/>
        </p:nvSpPr>
        <p:spPr>
          <a:xfrm rot="0">
            <a:off x="9624860" y="3933825"/>
            <a:ext cx="3571875" cy="619125"/>
          </a:xfrm>
          <a:prstGeom prst="rect">
            <a:avLst/>
          </a:prstGeom>
        </p:spPr>
        <p:txBody>
          <a:bodyPr anchor="t" rtlCol="false" tIns="0" lIns="0" bIns="0" rIns="0">
            <a:spAutoFit/>
          </a:bodyPr>
          <a:lstStyle/>
          <a:p>
            <a:pPr algn="ctr">
              <a:lnSpc>
                <a:spcPts val="2430"/>
              </a:lnSpc>
            </a:pPr>
            <a:r>
              <a:rPr lang="en-US" sz="2025">
                <a:solidFill>
                  <a:srgbClr val="57534E"/>
                </a:solidFill>
                <a:latin typeface="Inter"/>
                <a:ea typeface="Inter"/>
                <a:cs typeface="Inter"/>
                <a:sym typeface="Inter"/>
              </a:rPr>
              <a:t>Recolección de armas y pelea</a:t>
            </a:r>
          </a:p>
        </p:txBody>
      </p:sp>
      <p:grpSp>
        <p:nvGrpSpPr>
          <p:cNvPr name="Group 27" id="27"/>
          <p:cNvGrpSpPr/>
          <p:nvPr/>
        </p:nvGrpSpPr>
        <p:grpSpPr>
          <a:xfrm rot="0">
            <a:off x="15358843" y="2514600"/>
            <a:ext cx="1171575" cy="742950"/>
            <a:chOff x="0" y="0"/>
            <a:chExt cx="1562100" cy="990600"/>
          </a:xfrm>
        </p:grpSpPr>
        <p:sp>
          <p:nvSpPr>
            <p:cNvPr name="Freeform 28" id="28"/>
            <p:cNvSpPr/>
            <p:nvPr/>
          </p:nvSpPr>
          <p:spPr>
            <a:xfrm flipH="false" flipV="false" rot="0">
              <a:off x="0" y="0"/>
              <a:ext cx="1562100" cy="990600"/>
            </a:xfrm>
            <a:custGeom>
              <a:avLst/>
              <a:gdLst/>
              <a:ahLst/>
              <a:cxnLst/>
              <a:rect r="r" b="b" t="t" l="l"/>
              <a:pathLst>
                <a:path h="990600" w="1562100">
                  <a:moveTo>
                    <a:pt x="0" y="0"/>
                  </a:moveTo>
                  <a:lnTo>
                    <a:pt x="1562100" y="0"/>
                  </a:lnTo>
                  <a:lnTo>
                    <a:pt x="1562100" y="990600"/>
                  </a:lnTo>
                  <a:lnTo>
                    <a:pt x="0" y="990600"/>
                  </a:lnTo>
                  <a:close/>
                </a:path>
              </a:pathLst>
            </a:custGeom>
            <a:blipFill>
              <a:blip r:embed="rId2">
                <a:alphaModFix amt="0"/>
              </a:blip>
              <a:stretch>
                <a:fillRect l="-31363" t="0" r="-31363" b="0"/>
              </a:stretch>
            </a:blipFill>
          </p:spPr>
        </p:sp>
        <p:sp>
          <p:nvSpPr>
            <p:cNvPr name="TextBox 29" id="29"/>
            <p:cNvSpPr txBox="true"/>
            <p:nvPr/>
          </p:nvSpPr>
          <p:spPr>
            <a:xfrm>
              <a:off x="0" y="0"/>
              <a:ext cx="1562100" cy="990600"/>
            </a:xfrm>
            <a:prstGeom prst="rect">
              <a:avLst/>
            </a:prstGeom>
          </p:spPr>
          <p:txBody>
            <a:bodyPr anchor="ctr" rtlCol="false" tIns="0" lIns="0" bIns="0" rIns="0"/>
            <a:lstStyle/>
            <a:p>
              <a:pPr algn="ctr">
                <a:lnSpc>
                  <a:spcPts val="3240"/>
                </a:lnSpc>
              </a:pPr>
              <a:r>
                <a:rPr lang="en-US" sz="2700" b="true">
                  <a:solidFill>
                    <a:srgbClr val="FFFFFF"/>
                  </a:solidFill>
                  <a:latin typeface="Inter Bold"/>
                  <a:ea typeface="Inter Bold"/>
                  <a:cs typeface="Inter Bold"/>
                  <a:sym typeface="Inter Bold"/>
                </a:rPr>
                <a:t>4</a:t>
              </a:r>
            </a:p>
          </p:txBody>
        </p:sp>
      </p:grpSp>
      <p:sp>
        <p:nvSpPr>
          <p:cNvPr name="TextBox 30" id="30"/>
          <p:cNvSpPr txBox="true"/>
          <p:nvPr/>
        </p:nvSpPr>
        <p:spPr>
          <a:xfrm rot="0">
            <a:off x="15119518" y="3476625"/>
            <a:ext cx="1650206" cy="352425"/>
          </a:xfrm>
          <a:prstGeom prst="rect">
            <a:avLst/>
          </a:prstGeom>
        </p:spPr>
        <p:txBody>
          <a:bodyPr anchor="t" rtlCol="false" tIns="0" lIns="0" bIns="0" rIns="0">
            <a:spAutoFit/>
          </a:bodyPr>
          <a:lstStyle/>
          <a:p>
            <a:pPr algn="ctr">
              <a:lnSpc>
                <a:spcPts val="3240"/>
              </a:lnSpc>
            </a:pPr>
            <a:r>
              <a:rPr lang="en-US" sz="2700">
                <a:solidFill>
                  <a:srgbClr val="292524"/>
                </a:solidFill>
                <a:latin typeface="VT323"/>
                <a:ea typeface="VT323"/>
                <a:cs typeface="VT323"/>
                <a:sym typeface="VT323"/>
              </a:rPr>
              <a:t>VICTORIA</a:t>
            </a:r>
          </a:p>
        </p:txBody>
      </p:sp>
      <p:sp>
        <p:nvSpPr>
          <p:cNvPr name="TextBox 31" id="31"/>
          <p:cNvSpPr txBox="true"/>
          <p:nvPr/>
        </p:nvSpPr>
        <p:spPr>
          <a:xfrm rot="0">
            <a:off x="14687917" y="3933825"/>
            <a:ext cx="2513409" cy="314325"/>
          </a:xfrm>
          <a:prstGeom prst="rect">
            <a:avLst/>
          </a:prstGeom>
        </p:spPr>
        <p:txBody>
          <a:bodyPr anchor="t" rtlCol="false" tIns="0" lIns="0" bIns="0" rIns="0">
            <a:spAutoFit/>
          </a:bodyPr>
          <a:lstStyle/>
          <a:p>
            <a:pPr algn="ctr">
              <a:lnSpc>
                <a:spcPts val="2430"/>
              </a:lnSpc>
            </a:pPr>
            <a:r>
              <a:rPr lang="en-US" sz="2025">
                <a:solidFill>
                  <a:srgbClr val="57534E"/>
                </a:solidFill>
                <a:latin typeface="Inter"/>
                <a:ea typeface="Inter"/>
                <a:cs typeface="Inter"/>
                <a:sym typeface="Inter"/>
              </a:rPr>
              <a:t>Ganador de 5 rondas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sp>
        <p:nvSpPr>
          <p:cNvPr name="Freeform 2" id="2"/>
          <p:cNvSpPr/>
          <p:nvPr/>
        </p:nvSpPr>
        <p:spPr>
          <a:xfrm flipH="false" flipV="false" rot="1646296">
            <a:off x="9023326" y="1255172"/>
            <a:ext cx="3165590" cy="3165590"/>
          </a:xfrm>
          <a:custGeom>
            <a:avLst/>
            <a:gdLst/>
            <a:ahLst/>
            <a:cxnLst/>
            <a:rect r="r" b="b" t="t" l="l"/>
            <a:pathLst>
              <a:path h="3165590" w="3165590">
                <a:moveTo>
                  <a:pt x="0" y="0"/>
                </a:moveTo>
                <a:lnTo>
                  <a:pt x="3165590" y="0"/>
                </a:lnTo>
                <a:lnTo>
                  <a:pt x="3165590" y="3165590"/>
                </a:lnTo>
                <a:lnTo>
                  <a:pt x="0" y="3165590"/>
                </a:lnTo>
                <a:lnTo>
                  <a:pt x="0" y="0"/>
                </a:lnTo>
                <a:close/>
              </a:path>
            </a:pathLst>
          </a:custGeom>
          <a:blipFill>
            <a:blip r:embed="rId2"/>
            <a:stretch>
              <a:fillRect l="0" t="0" r="0" b="0"/>
            </a:stretch>
          </a:blipFill>
        </p:spPr>
      </p:sp>
      <p:sp>
        <p:nvSpPr>
          <p:cNvPr name="Freeform 3" id="3"/>
          <p:cNvSpPr/>
          <p:nvPr/>
        </p:nvSpPr>
        <p:spPr>
          <a:xfrm flipH="false" flipV="false" rot="0">
            <a:off x="12643131" y="4887144"/>
            <a:ext cx="4785502" cy="2344157"/>
          </a:xfrm>
          <a:custGeom>
            <a:avLst/>
            <a:gdLst/>
            <a:ahLst/>
            <a:cxnLst/>
            <a:rect r="r" b="b" t="t" l="l"/>
            <a:pathLst>
              <a:path h="2344157" w="4785502">
                <a:moveTo>
                  <a:pt x="0" y="0"/>
                </a:moveTo>
                <a:lnTo>
                  <a:pt x="4785502" y="0"/>
                </a:lnTo>
                <a:lnTo>
                  <a:pt x="4785502" y="2344157"/>
                </a:lnTo>
                <a:lnTo>
                  <a:pt x="0" y="2344157"/>
                </a:lnTo>
                <a:lnTo>
                  <a:pt x="0" y="0"/>
                </a:lnTo>
                <a:close/>
              </a:path>
            </a:pathLst>
          </a:custGeom>
          <a:blipFill>
            <a:blip r:embed="rId3"/>
            <a:stretch>
              <a:fillRect l="-9121" t="-27588" r="-6081" b="-107594"/>
            </a:stretch>
          </a:blipFill>
        </p:spPr>
      </p:sp>
      <p:sp>
        <p:nvSpPr>
          <p:cNvPr name="Freeform 4" id="4"/>
          <p:cNvSpPr/>
          <p:nvPr/>
        </p:nvSpPr>
        <p:spPr>
          <a:xfrm flipH="false" flipV="false" rot="0">
            <a:off x="8472038" y="5886450"/>
            <a:ext cx="3647228" cy="3647228"/>
          </a:xfrm>
          <a:custGeom>
            <a:avLst/>
            <a:gdLst/>
            <a:ahLst/>
            <a:cxnLst/>
            <a:rect r="r" b="b" t="t" l="l"/>
            <a:pathLst>
              <a:path h="3647228" w="3647228">
                <a:moveTo>
                  <a:pt x="0" y="0"/>
                </a:moveTo>
                <a:lnTo>
                  <a:pt x="3647228" y="0"/>
                </a:lnTo>
                <a:lnTo>
                  <a:pt x="3647228" y="3647228"/>
                </a:lnTo>
                <a:lnTo>
                  <a:pt x="0" y="3647228"/>
                </a:lnTo>
                <a:lnTo>
                  <a:pt x="0" y="0"/>
                </a:lnTo>
                <a:close/>
              </a:path>
            </a:pathLst>
          </a:custGeom>
          <a:blipFill>
            <a:blip r:embed="rId4"/>
            <a:stretch>
              <a:fillRect l="0" t="0" r="0" b="0"/>
            </a:stretch>
          </a:blipFill>
        </p:spPr>
      </p:sp>
      <p:sp>
        <p:nvSpPr>
          <p:cNvPr name="TextBox 5" id="5"/>
          <p:cNvSpPr txBox="true"/>
          <p:nvPr/>
        </p:nvSpPr>
        <p:spPr>
          <a:xfrm rot="0">
            <a:off x="914400" y="904875"/>
            <a:ext cx="17373600" cy="69532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ESTÉTICA Y DISEÑO SONORO</a:t>
            </a:r>
          </a:p>
        </p:txBody>
      </p:sp>
      <p:sp>
        <p:nvSpPr>
          <p:cNvPr name="TextBox 6" id="6"/>
          <p:cNvSpPr txBox="true"/>
          <p:nvPr/>
        </p:nvSpPr>
        <p:spPr>
          <a:xfrm rot="0">
            <a:off x="914400" y="2276475"/>
            <a:ext cx="9929812" cy="352425"/>
          </a:xfrm>
          <a:prstGeom prst="rect">
            <a:avLst/>
          </a:prstGeom>
        </p:spPr>
        <p:txBody>
          <a:bodyPr anchor="t" rtlCol="false" tIns="0" lIns="0" bIns="0" rIns="0">
            <a:spAutoFit/>
          </a:bodyPr>
          <a:lstStyle/>
          <a:p>
            <a:pPr algn="l">
              <a:lnSpc>
                <a:spcPts val="3240"/>
              </a:lnSpc>
            </a:pPr>
            <a:r>
              <a:rPr lang="en-US" sz="2700">
                <a:solidFill>
                  <a:srgbClr val="78350F"/>
                </a:solidFill>
                <a:latin typeface="VT323"/>
                <a:ea typeface="VT323"/>
                <a:cs typeface="VT323"/>
                <a:sym typeface="VT323"/>
              </a:rPr>
              <a:t>VISUALES</a:t>
            </a:r>
          </a:p>
        </p:txBody>
      </p:sp>
      <p:sp>
        <p:nvSpPr>
          <p:cNvPr name="TextBox 7" id="7"/>
          <p:cNvSpPr txBox="true"/>
          <p:nvPr/>
        </p:nvSpPr>
        <p:spPr>
          <a:xfrm rot="0">
            <a:off x="914400" y="5419725"/>
            <a:ext cx="9929812" cy="352425"/>
          </a:xfrm>
          <a:prstGeom prst="rect">
            <a:avLst/>
          </a:prstGeom>
        </p:spPr>
        <p:txBody>
          <a:bodyPr anchor="t" rtlCol="false" tIns="0" lIns="0" bIns="0" rIns="0">
            <a:spAutoFit/>
          </a:bodyPr>
          <a:lstStyle/>
          <a:p>
            <a:pPr algn="l">
              <a:lnSpc>
                <a:spcPts val="3240"/>
              </a:lnSpc>
            </a:pPr>
            <a:r>
              <a:rPr lang="en-US" sz="2700">
                <a:solidFill>
                  <a:srgbClr val="78350F"/>
                </a:solidFill>
                <a:latin typeface="VT323"/>
                <a:ea typeface="VT323"/>
                <a:cs typeface="VT323"/>
                <a:sym typeface="VT323"/>
              </a:rPr>
              <a:t>AUDIO</a:t>
            </a:r>
          </a:p>
        </p:txBody>
      </p:sp>
      <p:sp>
        <p:nvSpPr>
          <p:cNvPr name="TextBox 8" id="8"/>
          <p:cNvSpPr txBox="true"/>
          <p:nvPr/>
        </p:nvSpPr>
        <p:spPr>
          <a:xfrm rot="0">
            <a:off x="1143000" y="2695575"/>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9" id="9"/>
          <p:cNvSpPr txBox="true"/>
          <p:nvPr/>
        </p:nvSpPr>
        <p:spPr>
          <a:xfrm rot="0">
            <a:off x="1333500" y="2657475"/>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Estilo:</a:t>
            </a:r>
            <a:r>
              <a:rPr lang="en-US" sz="2475">
                <a:solidFill>
                  <a:srgbClr val="292524"/>
                </a:solidFill>
                <a:latin typeface="Inter"/>
                <a:ea typeface="Inter"/>
                <a:cs typeface="Inter"/>
                <a:sym typeface="Inter"/>
              </a:rPr>
              <a:t> Pixel-Art 2D.</a:t>
            </a:r>
          </a:p>
        </p:txBody>
      </p:sp>
      <p:sp>
        <p:nvSpPr>
          <p:cNvPr name="TextBox 10" id="10"/>
          <p:cNvSpPr txBox="true"/>
          <p:nvPr/>
        </p:nvSpPr>
        <p:spPr>
          <a:xfrm rot="0">
            <a:off x="1143000" y="3281363"/>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11" id="11"/>
          <p:cNvSpPr txBox="true"/>
          <p:nvPr/>
        </p:nvSpPr>
        <p:spPr>
          <a:xfrm rot="0">
            <a:off x="1333500" y="3243263"/>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Colores:</a:t>
            </a:r>
            <a:r>
              <a:rPr lang="en-US" sz="2475">
                <a:solidFill>
                  <a:srgbClr val="292524"/>
                </a:solidFill>
                <a:latin typeface="Inter"/>
                <a:ea typeface="Inter"/>
                <a:cs typeface="Inter"/>
                <a:sym typeface="Inter"/>
              </a:rPr>
              <a:t> Cálidos y naturales.</a:t>
            </a:r>
          </a:p>
        </p:txBody>
      </p:sp>
      <p:sp>
        <p:nvSpPr>
          <p:cNvPr name="TextBox 12" id="12"/>
          <p:cNvSpPr txBox="true"/>
          <p:nvPr/>
        </p:nvSpPr>
        <p:spPr>
          <a:xfrm rot="0">
            <a:off x="1143000" y="3867150"/>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13" id="13"/>
          <p:cNvSpPr txBox="true"/>
          <p:nvPr/>
        </p:nvSpPr>
        <p:spPr>
          <a:xfrm rot="0">
            <a:off x="1333500" y="3829050"/>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Cámara:</a:t>
            </a:r>
            <a:r>
              <a:rPr lang="en-US" sz="2475">
                <a:solidFill>
                  <a:srgbClr val="292524"/>
                </a:solidFill>
                <a:latin typeface="Inter"/>
                <a:ea typeface="Inter"/>
                <a:cs typeface="Inter"/>
                <a:sym typeface="Inter"/>
              </a:rPr>
              <a:t> Zoom dinámico multiobjetivo.</a:t>
            </a:r>
          </a:p>
        </p:txBody>
      </p:sp>
      <p:sp>
        <p:nvSpPr>
          <p:cNvPr name="TextBox 14" id="14"/>
          <p:cNvSpPr txBox="true"/>
          <p:nvPr/>
        </p:nvSpPr>
        <p:spPr>
          <a:xfrm rot="0">
            <a:off x="1143000" y="4452937"/>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15" id="15"/>
          <p:cNvSpPr txBox="true"/>
          <p:nvPr/>
        </p:nvSpPr>
        <p:spPr>
          <a:xfrm rot="0">
            <a:off x="1333500" y="4414837"/>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Escalado:</a:t>
            </a:r>
            <a:r>
              <a:rPr lang="en-US" sz="2475">
                <a:solidFill>
                  <a:srgbClr val="292524"/>
                </a:solidFill>
                <a:latin typeface="Inter"/>
                <a:ea typeface="Inter"/>
                <a:cs typeface="Inter"/>
                <a:sym typeface="Inter"/>
              </a:rPr>
              <a:t> Enteros para agrandar píxeles.</a:t>
            </a:r>
          </a:p>
        </p:txBody>
      </p:sp>
      <p:sp>
        <p:nvSpPr>
          <p:cNvPr name="TextBox 16" id="16"/>
          <p:cNvSpPr txBox="true"/>
          <p:nvPr/>
        </p:nvSpPr>
        <p:spPr>
          <a:xfrm rot="0">
            <a:off x="1143000" y="5838825"/>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17" id="17"/>
          <p:cNvSpPr txBox="true"/>
          <p:nvPr/>
        </p:nvSpPr>
        <p:spPr>
          <a:xfrm rot="0">
            <a:off x="1333500" y="5800725"/>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Música:</a:t>
            </a:r>
            <a:r>
              <a:rPr lang="en-US" sz="2475">
                <a:solidFill>
                  <a:srgbClr val="292524"/>
                </a:solidFill>
                <a:latin typeface="Inter"/>
                <a:ea typeface="Inter"/>
                <a:cs typeface="Inter"/>
                <a:sym typeface="Inter"/>
              </a:rPr>
              <a:t> Rústica (banjo, armónica).</a:t>
            </a:r>
          </a:p>
        </p:txBody>
      </p:sp>
      <p:sp>
        <p:nvSpPr>
          <p:cNvPr name="TextBox 18" id="18"/>
          <p:cNvSpPr txBox="true"/>
          <p:nvPr/>
        </p:nvSpPr>
        <p:spPr>
          <a:xfrm rot="0">
            <a:off x="1143000" y="6424613"/>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19" id="19"/>
          <p:cNvSpPr txBox="true"/>
          <p:nvPr/>
        </p:nvSpPr>
        <p:spPr>
          <a:xfrm rot="0">
            <a:off x="1333500" y="6386513"/>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Ambientación:</a:t>
            </a:r>
            <a:r>
              <a:rPr lang="en-US" sz="2475">
                <a:solidFill>
                  <a:srgbClr val="292524"/>
                </a:solidFill>
                <a:latin typeface="Inter"/>
                <a:ea typeface="Inter"/>
                <a:cs typeface="Inter"/>
                <a:sym typeface="Inter"/>
              </a:rPr>
              <a:t> Bosque y presa.</a:t>
            </a:r>
          </a:p>
        </p:txBody>
      </p:sp>
      <p:sp>
        <p:nvSpPr>
          <p:cNvPr name="TextBox 20" id="20"/>
          <p:cNvSpPr txBox="true"/>
          <p:nvPr/>
        </p:nvSpPr>
        <p:spPr>
          <a:xfrm rot="0">
            <a:off x="1143000" y="7010400"/>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21" id="21"/>
          <p:cNvSpPr txBox="true"/>
          <p:nvPr/>
        </p:nvSpPr>
        <p:spPr>
          <a:xfrm rot="0">
            <a:off x="1333500" y="6972300"/>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Efectos:</a:t>
            </a:r>
            <a:r>
              <a:rPr lang="en-US" sz="2475">
                <a:solidFill>
                  <a:srgbClr val="292524"/>
                </a:solidFill>
                <a:latin typeface="Inter"/>
                <a:ea typeface="Inter"/>
                <a:cs typeface="Inter"/>
                <a:sym typeface="Inter"/>
              </a:rPr>
              <a:t> Sonidos secos y mecánicos.</a:t>
            </a:r>
          </a:p>
        </p:txBody>
      </p:sp>
      <p:sp>
        <p:nvSpPr>
          <p:cNvPr name="TextBox 22" id="22"/>
          <p:cNvSpPr txBox="true"/>
          <p:nvPr/>
        </p:nvSpPr>
        <p:spPr>
          <a:xfrm rot="0">
            <a:off x="1143000" y="7596187"/>
            <a:ext cx="114300" cy="519113"/>
          </a:xfrm>
          <a:prstGeom prst="rect">
            <a:avLst/>
          </a:prstGeom>
        </p:spPr>
        <p:txBody>
          <a:bodyPr anchor="t" rtlCol="false" tIns="0" lIns="0" bIns="0" rIns="0">
            <a:spAutoFit/>
          </a:bodyPr>
          <a:lstStyle/>
          <a:p>
            <a:pPr algn="l">
              <a:lnSpc>
                <a:spcPts val="2970"/>
              </a:lnSpc>
            </a:pPr>
            <a:r>
              <a:rPr lang="en-US" sz="2475">
                <a:solidFill>
                  <a:srgbClr val="292524"/>
                </a:solidFill>
                <a:latin typeface="Calibri (MS)"/>
                <a:ea typeface="Calibri (MS)"/>
                <a:cs typeface="Calibri (MS)"/>
                <a:sym typeface="Calibri (MS)"/>
              </a:rPr>
              <a:t>▪</a:t>
            </a:r>
          </a:p>
        </p:txBody>
      </p:sp>
      <p:sp>
        <p:nvSpPr>
          <p:cNvPr name="TextBox 23" id="23"/>
          <p:cNvSpPr txBox="true"/>
          <p:nvPr/>
        </p:nvSpPr>
        <p:spPr>
          <a:xfrm rot="0">
            <a:off x="1333500" y="7558087"/>
            <a:ext cx="9424988" cy="557213"/>
          </a:xfrm>
          <a:prstGeom prst="rect">
            <a:avLst/>
          </a:prstGeom>
        </p:spPr>
        <p:txBody>
          <a:bodyPr anchor="t" rtlCol="false" tIns="0" lIns="0" bIns="0" rIns="0">
            <a:spAutoFit/>
          </a:bodyPr>
          <a:lstStyle/>
          <a:p>
            <a:pPr algn="l">
              <a:lnSpc>
                <a:spcPts val="3712"/>
              </a:lnSpc>
            </a:pPr>
            <a:r>
              <a:rPr lang="en-US" sz="2475" b="true">
                <a:solidFill>
                  <a:srgbClr val="292524"/>
                </a:solidFill>
                <a:latin typeface="Inter Bold"/>
                <a:ea typeface="Inter Bold"/>
                <a:cs typeface="Inter Bold"/>
                <a:sym typeface="Inter Bold"/>
              </a:rPr>
              <a:t>Voces:</a:t>
            </a:r>
            <a:r>
              <a:rPr lang="en-US" sz="2475">
                <a:solidFill>
                  <a:srgbClr val="292524"/>
                </a:solidFill>
                <a:latin typeface="Inter"/>
                <a:ea typeface="Inter"/>
                <a:cs typeface="Inter"/>
                <a:sym typeface="Inter"/>
              </a:rPr>
              <a:t> Chillidos cómicos de castores.</a:t>
            </a:r>
          </a:p>
        </p:txBody>
      </p:sp>
      <p:sp>
        <p:nvSpPr>
          <p:cNvPr name="Freeform 24" id="24"/>
          <p:cNvSpPr/>
          <p:nvPr/>
        </p:nvSpPr>
        <p:spPr>
          <a:xfrm flipH="false" flipV="false" rot="0">
            <a:off x="13302236" y="493504"/>
            <a:ext cx="3740038" cy="3740038"/>
          </a:xfrm>
          <a:custGeom>
            <a:avLst/>
            <a:gdLst/>
            <a:ahLst/>
            <a:cxnLst/>
            <a:rect r="r" b="b" t="t" l="l"/>
            <a:pathLst>
              <a:path h="3740038" w="3740038">
                <a:moveTo>
                  <a:pt x="0" y="0"/>
                </a:moveTo>
                <a:lnTo>
                  <a:pt x="3740038" y="0"/>
                </a:lnTo>
                <a:lnTo>
                  <a:pt x="3740038" y="3740038"/>
                </a:lnTo>
                <a:lnTo>
                  <a:pt x="0" y="3740038"/>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sp>
        <p:nvSpPr>
          <p:cNvPr name="Freeform 2" id="2"/>
          <p:cNvSpPr/>
          <p:nvPr/>
        </p:nvSpPr>
        <p:spPr>
          <a:xfrm flipH="false" flipV="false" rot="0">
            <a:off x="10994469" y="3928025"/>
            <a:ext cx="6877274" cy="3841602"/>
          </a:xfrm>
          <a:custGeom>
            <a:avLst/>
            <a:gdLst/>
            <a:ahLst/>
            <a:cxnLst/>
            <a:rect r="r" b="b" t="t" l="l"/>
            <a:pathLst>
              <a:path h="3841602" w="6877274">
                <a:moveTo>
                  <a:pt x="0" y="0"/>
                </a:moveTo>
                <a:lnTo>
                  <a:pt x="6877274" y="0"/>
                </a:lnTo>
                <a:lnTo>
                  <a:pt x="6877274" y="3841602"/>
                </a:lnTo>
                <a:lnTo>
                  <a:pt x="0" y="3841602"/>
                </a:lnTo>
                <a:lnTo>
                  <a:pt x="0" y="0"/>
                </a:lnTo>
                <a:close/>
              </a:path>
            </a:pathLst>
          </a:custGeom>
          <a:blipFill>
            <a:blip r:embed="rId2"/>
            <a:stretch>
              <a:fillRect l="0" t="0" r="0" b="0"/>
            </a:stretch>
          </a:blipFill>
        </p:spPr>
      </p:sp>
      <p:sp>
        <p:nvSpPr>
          <p:cNvPr name="TextBox 3" id="3"/>
          <p:cNvSpPr txBox="true"/>
          <p:nvPr/>
        </p:nvSpPr>
        <p:spPr>
          <a:xfrm rot="0">
            <a:off x="914400" y="904875"/>
            <a:ext cx="1371749" cy="82867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LORE </a:t>
            </a:r>
          </a:p>
        </p:txBody>
      </p:sp>
      <p:sp>
        <p:nvSpPr>
          <p:cNvPr name="TextBox 4" id="4"/>
          <p:cNvSpPr txBox="true"/>
          <p:nvPr/>
        </p:nvSpPr>
        <p:spPr>
          <a:xfrm rot="0">
            <a:off x="1028700" y="2024063"/>
            <a:ext cx="2420862" cy="533400"/>
          </a:xfrm>
          <a:prstGeom prst="rect">
            <a:avLst/>
          </a:prstGeom>
        </p:spPr>
        <p:txBody>
          <a:bodyPr anchor="t" rtlCol="false" tIns="0" lIns="0" bIns="0" rIns="0">
            <a:spAutoFit/>
          </a:bodyPr>
          <a:lstStyle/>
          <a:p>
            <a:pPr algn="l">
              <a:lnSpc>
                <a:spcPts val="4199"/>
              </a:lnSpc>
            </a:pPr>
            <a:r>
              <a:rPr lang="en-US" sz="3499">
                <a:solidFill>
                  <a:srgbClr val="78350F"/>
                </a:solidFill>
                <a:latin typeface="VT323"/>
                <a:ea typeface="VT323"/>
                <a:cs typeface="VT323"/>
                <a:sym typeface="VT323"/>
              </a:rPr>
              <a:t>Trasfondo</a:t>
            </a:r>
          </a:p>
        </p:txBody>
      </p:sp>
      <p:sp>
        <p:nvSpPr>
          <p:cNvPr name="TextBox 5" id="5"/>
          <p:cNvSpPr txBox="true"/>
          <p:nvPr/>
        </p:nvSpPr>
        <p:spPr>
          <a:xfrm rot="0">
            <a:off x="1028700" y="2776537"/>
            <a:ext cx="9424988" cy="5592128"/>
          </a:xfrm>
          <a:prstGeom prst="rect">
            <a:avLst/>
          </a:prstGeom>
        </p:spPr>
        <p:txBody>
          <a:bodyPr anchor="t" rtlCol="false" tIns="0" lIns="0" bIns="0" rIns="0">
            <a:spAutoFit/>
          </a:bodyPr>
          <a:lstStyle/>
          <a:p>
            <a:pPr algn="l">
              <a:lnSpc>
                <a:spcPts val="3712"/>
              </a:lnSpc>
            </a:pPr>
            <a:r>
              <a:rPr lang="en-US" sz="2475">
                <a:solidFill>
                  <a:srgbClr val="292524"/>
                </a:solidFill>
                <a:latin typeface="Inter"/>
                <a:ea typeface="Inter"/>
                <a:cs typeface="Inter"/>
                <a:sym typeface="Inter"/>
              </a:rPr>
              <a:t>En un mundo donde los seres humanos ya no tienen cabida en el planeta tierra, debido a una gran catástrofe provocada por ellos mismos. En el planeta actual existe una gran raza de castores, que son los actuales líderes del planeta pero en base a los pocos recursos que existen, la vida se ha convertido en una lucha constante para la supervivencia de cada uno.</a:t>
            </a:r>
          </a:p>
          <a:p>
            <a:pPr algn="l">
              <a:lnSpc>
                <a:spcPts val="3712"/>
              </a:lnSpc>
            </a:pPr>
          </a:p>
          <a:p>
            <a:pPr algn="l">
              <a:lnSpc>
                <a:spcPts val="3712"/>
              </a:lnSpc>
            </a:pPr>
            <a:r>
              <a:rPr lang="en-US" sz="2475">
                <a:solidFill>
                  <a:srgbClr val="292524"/>
                </a:solidFill>
                <a:latin typeface="Inter"/>
                <a:ea typeface="Inter"/>
                <a:cs typeface="Inter"/>
                <a:sym typeface="Inter"/>
              </a:rPr>
              <a:t>Haciendo así que los castores evolucionen de una manera exponencial, creando armas con lo poquito que dejaron los seres humanos. La vida ahora es una guerra contra iguales donde solo sobreviven los más fuertes y despiadados. </a:t>
            </a:r>
          </a:p>
          <a:p>
            <a:pPr algn="l">
              <a:lnSpc>
                <a:spcPts val="3712"/>
              </a:lnSpc>
            </a:pPr>
          </a:p>
        </p:txBody>
      </p:sp>
      <p:sp>
        <p:nvSpPr>
          <p:cNvPr name="TextBox 6" id="6"/>
          <p:cNvSpPr txBox="true"/>
          <p:nvPr/>
        </p:nvSpPr>
        <p:spPr>
          <a:xfrm rot="0">
            <a:off x="12338499" y="7811907"/>
            <a:ext cx="4189214" cy="260985"/>
          </a:xfrm>
          <a:prstGeom prst="rect">
            <a:avLst/>
          </a:prstGeom>
        </p:spPr>
        <p:txBody>
          <a:bodyPr anchor="t" rtlCol="false" tIns="0" lIns="0" bIns="0" rIns="0">
            <a:spAutoFit/>
          </a:bodyPr>
          <a:lstStyle/>
          <a:p>
            <a:pPr algn="ctr">
              <a:lnSpc>
                <a:spcPts val="2100"/>
              </a:lnSpc>
              <a:spcBef>
                <a:spcPct val="0"/>
              </a:spcBef>
            </a:pPr>
            <a:r>
              <a:rPr lang="en-US" sz="1400" u="sng">
                <a:solidFill>
                  <a:srgbClr val="000000"/>
                </a:solidFill>
                <a:latin typeface="Inter"/>
                <a:ea typeface="Inter"/>
                <a:cs typeface="Inter"/>
                <a:sym typeface="Inter"/>
              </a:rPr>
              <a:t>Imagen creada con IA a modo de referencia visual</a:t>
            </a:r>
            <a:r>
              <a:rPr lang="en-US" sz="1400">
                <a:solidFill>
                  <a:srgbClr val="000000"/>
                </a:solidFill>
                <a:latin typeface="Inter"/>
                <a:ea typeface="Inter"/>
                <a:cs typeface="Inter"/>
                <a:sym typeface="Inter"/>
              </a:rPr>
              <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grpSp>
        <p:nvGrpSpPr>
          <p:cNvPr name="Group 2" id="2"/>
          <p:cNvGrpSpPr/>
          <p:nvPr/>
        </p:nvGrpSpPr>
        <p:grpSpPr>
          <a:xfrm rot="0">
            <a:off x="914400" y="2286000"/>
            <a:ext cx="3857625" cy="7086600"/>
            <a:chOff x="0" y="0"/>
            <a:chExt cx="5143500" cy="9448800"/>
          </a:xfrm>
        </p:grpSpPr>
        <p:sp>
          <p:nvSpPr>
            <p:cNvPr name="Freeform 3" id="3"/>
            <p:cNvSpPr/>
            <p:nvPr/>
          </p:nvSpPr>
          <p:spPr>
            <a:xfrm flipH="false" flipV="false" rot="0">
              <a:off x="0" y="0"/>
              <a:ext cx="5143500" cy="9448800"/>
            </a:xfrm>
            <a:custGeom>
              <a:avLst/>
              <a:gdLst/>
              <a:ahLst/>
              <a:cxnLst/>
              <a:rect r="r" b="b" t="t" l="l"/>
              <a:pathLst>
                <a:path h="9448800" w="5143500">
                  <a:moveTo>
                    <a:pt x="0" y="0"/>
                  </a:moveTo>
                  <a:lnTo>
                    <a:pt x="5143500" y="0"/>
                  </a:lnTo>
                  <a:lnTo>
                    <a:pt x="5143500" y="9448800"/>
                  </a:lnTo>
                  <a:lnTo>
                    <a:pt x="0" y="9448800"/>
                  </a:lnTo>
                  <a:close/>
                </a:path>
              </a:pathLst>
            </a:custGeom>
            <a:solidFill>
              <a:srgbClr val="E7E5E4"/>
            </a:solidFill>
          </p:spPr>
        </p:sp>
      </p:grpSp>
      <p:grpSp>
        <p:nvGrpSpPr>
          <p:cNvPr name="Group 4" id="4"/>
          <p:cNvGrpSpPr/>
          <p:nvPr/>
        </p:nvGrpSpPr>
        <p:grpSpPr>
          <a:xfrm rot="0">
            <a:off x="5114925" y="2286000"/>
            <a:ext cx="3857625" cy="7086600"/>
            <a:chOff x="0" y="0"/>
            <a:chExt cx="5143500" cy="9448800"/>
          </a:xfrm>
        </p:grpSpPr>
        <p:sp>
          <p:nvSpPr>
            <p:cNvPr name="Freeform 5" id="5"/>
            <p:cNvSpPr/>
            <p:nvPr/>
          </p:nvSpPr>
          <p:spPr>
            <a:xfrm flipH="false" flipV="false" rot="0">
              <a:off x="0" y="0"/>
              <a:ext cx="5143500" cy="9448800"/>
            </a:xfrm>
            <a:custGeom>
              <a:avLst/>
              <a:gdLst/>
              <a:ahLst/>
              <a:cxnLst/>
              <a:rect r="r" b="b" t="t" l="l"/>
              <a:pathLst>
                <a:path h="9448800" w="5143500">
                  <a:moveTo>
                    <a:pt x="0" y="0"/>
                  </a:moveTo>
                  <a:lnTo>
                    <a:pt x="5143500" y="0"/>
                  </a:lnTo>
                  <a:lnTo>
                    <a:pt x="5143500" y="9448800"/>
                  </a:lnTo>
                  <a:lnTo>
                    <a:pt x="0" y="9448800"/>
                  </a:lnTo>
                  <a:close/>
                </a:path>
              </a:pathLst>
            </a:custGeom>
            <a:solidFill>
              <a:srgbClr val="E7E5E4"/>
            </a:solidFill>
          </p:spPr>
        </p:sp>
      </p:grpSp>
      <p:grpSp>
        <p:nvGrpSpPr>
          <p:cNvPr name="Group 6" id="6"/>
          <p:cNvGrpSpPr/>
          <p:nvPr/>
        </p:nvGrpSpPr>
        <p:grpSpPr>
          <a:xfrm rot="0">
            <a:off x="9315450" y="2286000"/>
            <a:ext cx="3857625" cy="7086600"/>
            <a:chOff x="0" y="0"/>
            <a:chExt cx="5143500" cy="9448800"/>
          </a:xfrm>
        </p:grpSpPr>
        <p:sp>
          <p:nvSpPr>
            <p:cNvPr name="Freeform 7" id="7"/>
            <p:cNvSpPr/>
            <p:nvPr/>
          </p:nvSpPr>
          <p:spPr>
            <a:xfrm flipH="false" flipV="false" rot="0">
              <a:off x="0" y="0"/>
              <a:ext cx="5143500" cy="9448800"/>
            </a:xfrm>
            <a:custGeom>
              <a:avLst/>
              <a:gdLst/>
              <a:ahLst/>
              <a:cxnLst/>
              <a:rect r="r" b="b" t="t" l="l"/>
              <a:pathLst>
                <a:path h="9448800" w="5143500">
                  <a:moveTo>
                    <a:pt x="0" y="0"/>
                  </a:moveTo>
                  <a:lnTo>
                    <a:pt x="5143500" y="0"/>
                  </a:lnTo>
                  <a:lnTo>
                    <a:pt x="5143500" y="9448800"/>
                  </a:lnTo>
                  <a:lnTo>
                    <a:pt x="0" y="9448800"/>
                  </a:lnTo>
                  <a:close/>
                </a:path>
              </a:pathLst>
            </a:custGeom>
            <a:solidFill>
              <a:srgbClr val="E7E5E4"/>
            </a:solidFill>
          </p:spPr>
        </p:sp>
      </p:grpSp>
      <p:grpSp>
        <p:nvGrpSpPr>
          <p:cNvPr name="Group 8" id="8"/>
          <p:cNvGrpSpPr/>
          <p:nvPr/>
        </p:nvGrpSpPr>
        <p:grpSpPr>
          <a:xfrm rot="0">
            <a:off x="13515975" y="2286000"/>
            <a:ext cx="3857625" cy="7086600"/>
            <a:chOff x="0" y="0"/>
            <a:chExt cx="5143500" cy="9448800"/>
          </a:xfrm>
        </p:grpSpPr>
        <p:sp>
          <p:nvSpPr>
            <p:cNvPr name="Freeform 9" id="9"/>
            <p:cNvSpPr/>
            <p:nvPr/>
          </p:nvSpPr>
          <p:spPr>
            <a:xfrm flipH="false" flipV="false" rot="0">
              <a:off x="0" y="0"/>
              <a:ext cx="5143500" cy="9448800"/>
            </a:xfrm>
            <a:custGeom>
              <a:avLst/>
              <a:gdLst/>
              <a:ahLst/>
              <a:cxnLst/>
              <a:rect r="r" b="b" t="t" l="l"/>
              <a:pathLst>
                <a:path h="9448800" w="5143500">
                  <a:moveTo>
                    <a:pt x="0" y="0"/>
                  </a:moveTo>
                  <a:lnTo>
                    <a:pt x="5143500" y="0"/>
                  </a:lnTo>
                  <a:lnTo>
                    <a:pt x="5143500" y="9448800"/>
                  </a:lnTo>
                  <a:lnTo>
                    <a:pt x="0" y="9448800"/>
                  </a:lnTo>
                  <a:close/>
                </a:path>
              </a:pathLst>
            </a:custGeom>
            <a:solidFill>
              <a:srgbClr val="E7E5E4"/>
            </a:solidFill>
          </p:spPr>
        </p:sp>
      </p:grpSp>
      <p:grpSp>
        <p:nvGrpSpPr>
          <p:cNvPr name="Group 10" id="10"/>
          <p:cNvGrpSpPr/>
          <p:nvPr/>
        </p:nvGrpSpPr>
        <p:grpSpPr>
          <a:xfrm rot="0">
            <a:off x="1371600" y="2743200"/>
            <a:ext cx="2943225" cy="457200"/>
            <a:chOff x="0" y="0"/>
            <a:chExt cx="3924300" cy="609600"/>
          </a:xfrm>
        </p:grpSpPr>
        <p:sp>
          <p:nvSpPr>
            <p:cNvPr name="Freeform 11" id="11" descr="image.png"/>
            <p:cNvSpPr/>
            <p:nvPr/>
          </p:nvSpPr>
          <p:spPr>
            <a:xfrm flipH="false" flipV="false" rot="0">
              <a:off x="0" y="0"/>
              <a:ext cx="3924300" cy="609600"/>
            </a:xfrm>
            <a:custGeom>
              <a:avLst/>
              <a:gdLst/>
              <a:ahLst/>
              <a:cxnLst/>
              <a:rect r="r" b="b" t="t" l="l"/>
              <a:pathLst>
                <a:path h="609600" w="3924300">
                  <a:moveTo>
                    <a:pt x="0" y="0"/>
                  </a:moveTo>
                  <a:lnTo>
                    <a:pt x="3924300" y="0"/>
                  </a:lnTo>
                  <a:lnTo>
                    <a:pt x="3924300" y="609600"/>
                  </a:lnTo>
                  <a:lnTo>
                    <a:pt x="0" y="609600"/>
                  </a:lnTo>
                  <a:lnTo>
                    <a:pt x="0" y="0"/>
                  </a:lnTo>
                  <a:close/>
                </a:path>
              </a:pathLst>
            </a:custGeom>
            <a:blipFill>
              <a:blip r:embed="rId2"/>
              <a:stretch>
                <a:fillRect l="0" t="0" r="0" b="0"/>
              </a:stretch>
            </a:blipFill>
          </p:spPr>
        </p:sp>
      </p:grpSp>
      <p:grpSp>
        <p:nvGrpSpPr>
          <p:cNvPr name="Group 12" id="12"/>
          <p:cNvGrpSpPr/>
          <p:nvPr/>
        </p:nvGrpSpPr>
        <p:grpSpPr>
          <a:xfrm rot="0">
            <a:off x="5572125" y="2743200"/>
            <a:ext cx="2943225" cy="457200"/>
            <a:chOff x="0" y="0"/>
            <a:chExt cx="3924300" cy="609600"/>
          </a:xfrm>
        </p:grpSpPr>
        <p:sp>
          <p:nvSpPr>
            <p:cNvPr name="Freeform 13" id="13" descr="image.png"/>
            <p:cNvSpPr/>
            <p:nvPr/>
          </p:nvSpPr>
          <p:spPr>
            <a:xfrm flipH="false" flipV="false" rot="0">
              <a:off x="0" y="0"/>
              <a:ext cx="3924300" cy="609600"/>
            </a:xfrm>
            <a:custGeom>
              <a:avLst/>
              <a:gdLst/>
              <a:ahLst/>
              <a:cxnLst/>
              <a:rect r="r" b="b" t="t" l="l"/>
              <a:pathLst>
                <a:path h="609600" w="3924300">
                  <a:moveTo>
                    <a:pt x="0" y="0"/>
                  </a:moveTo>
                  <a:lnTo>
                    <a:pt x="3924300" y="0"/>
                  </a:lnTo>
                  <a:lnTo>
                    <a:pt x="3924300" y="609600"/>
                  </a:lnTo>
                  <a:lnTo>
                    <a:pt x="0" y="609600"/>
                  </a:lnTo>
                  <a:lnTo>
                    <a:pt x="0" y="0"/>
                  </a:lnTo>
                  <a:close/>
                </a:path>
              </a:pathLst>
            </a:custGeom>
            <a:blipFill>
              <a:blip r:embed="rId3"/>
              <a:stretch>
                <a:fillRect l="0" t="0" r="0" b="0"/>
              </a:stretch>
            </a:blipFill>
          </p:spPr>
        </p:sp>
      </p:grpSp>
      <p:grpSp>
        <p:nvGrpSpPr>
          <p:cNvPr name="Group 14" id="14"/>
          <p:cNvGrpSpPr/>
          <p:nvPr/>
        </p:nvGrpSpPr>
        <p:grpSpPr>
          <a:xfrm rot="0">
            <a:off x="9772650" y="2743200"/>
            <a:ext cx="2943225" cy="457200"/>
            <a:chOff x="0" y="0"/>
            <a:chExt cx="3924300" cy="609600"/>
          </a:xfrm>
        </p:grpSpPr>
        <p:sp>
          <p:nvSpPr>
            <p:cNvPr name="Freeform 15" id="15" descr="image.png"/>
            <p:cNvSpPr/>
            <p:nvPr/>
          </p:nvSpPr>
          <p:spPr>
            <a:xfrm flipH="false" flipV="false" rot="0">
              <a:off x="0" y="0"/>
              <a:ext cx="3924300" cy="609600"/>
            </a:xfrm>
            <a:custGeom>
              <a:avLst/>
              <a:gdLst/>
              <a:ahLst/>
              <a:cxnLst/>
              <a:rect r="r" b="b" t="t" l="l"/>
              <a:pathLst>
                <a:path h="609600" w="3924300">
                  <a:moveTo>
                    <a:pt x="0" y="0"/>
                  </a:moveTo>
                  <a:lnTo>
                    <a:pt x="3924300" y="0"/>
                  </a:lnTo>
                  <a:lnTo>
                    <a:pt x="3924300" y="609600"/>
                  </a:lnTo>
                  <a:lnTo>
                    <a:pt x="0" y="609600"/>
                  </a:lnTo>
                  <a:lnTo>
                    <a:pt x="0" y="0"/>
                  </a:lnTo>
                  <a:close/>
                </a:path>
              </a:pathLst>
            </a:custGeom>
            <a:blipFill>
              <a:blip r:embed="rId4"/>
              <a:stretch>
                <a:fillRect l="0" t="0" r="0" b="0"/>
              </a:stretch>
            </a:blipFill>
          </p:spPr>
        </p:sp>
      </p:grpSp>
      <p:grpSp>
        <p:nvGrpSpPr>
          <p:cNvPr name="Group 16" id="16"/>
          <p:cNvGrpSpPr/>
          <p:nvPr/>
        </p:nvGrpSpPr>
        <p:grpSpPr>
          <a:xfrm rot="0">
            <a:off x="13973175" y="2743200"/>
            <a:ext cx="2943225" cy="457200"/>
            <a:chOff x="0" y="0"/>
            <a:chExt cx="3924300" cy="609600"/>
          </a:xfrm>
        </p:grpSpPr>
        <p:sp>
          <p:nvSpPr>
            <p:cNvPr name="Freeform 17" id="17" descr="image.png"/>
            <p:cNvSpPr/>
            <p:nvPr/>
          </p:nvSpPr>
          <p:spPr>
            <a:xfrm flipH="false" flipV="false" rot="0">
              <a:off x="0" y="0"/>
              <a:ext cx="3924300" cy="609600"/>
            </a:xfrm>
            <a:custGeom>
              <a:avLst/>
              <a:gdLst/>
              <a:ahLst/>
              <a:cxnLst/>
              <a:rect r="r" b="b" t="t" l="l"/>
              <a:pathLst>
                <a:path h="609600" w="3924300">
                  <a:moveTo>
                    <a:pt x="0" y="0"/>
                  </a:moveTo>
                  <a:lnTo>
                    <a:pt x="3924300" y="0"/>
                  </a:lnTo>
                  <a:lnTo>
                    <a:pt x="3924300" y="609600"/>
                  </a:lnTo>
                  <a:lnTo>
                    <a:pt x="0" y="609600"/>
                  </a:lnTo>
                  <a:lnTo>
                    <a:pt x="0" y="0"/>
                  </a:lnTo>
                  <a:close/>
                </a:path>
              </a:pathLst>
            </a:custGeom>
            <a:blipFill>
              <a:blip r:embed="rId5"/>
              <a:stretch>
                <a:fillRect l="0" t="0" r="0" b="0"/>
              </a:stretch>
            </a:blipFill>
          </p:spPr>
        </p:sp>
      </p:grpSp>
      <p:sp>
        <p:nvSpPr>
          <p:cNvPr name="TextBox 18" id="18"/>
          <p:cNvSpPr txBox="true"/>
          <p:nvPr/>
        </p:nvSpPr>
        <p:spPr>
          <a:xfrm rot="0">
            <a:off x="914400" y="904875"/>
            <a:ext cx="2743200" cy="82867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PERSONAJES</a:t>
            </a:r>
          </a:p>
        </p:txBody>
      </p:sp>
      <p:sp>
        <p:nvSpPr>
          <p:cNvPr name="TextBox 19" id="19"/>
          <p:cNvSpPr txBox="true"/>
          <p:nvPr/>
        </p:nvSpPr>
        <p:spPr>
          <a:xfrm rot="0">
            <a:off x="1371600" y="3419475"/>
            <a:ext cx="3862978" cy="466725"/>
          </a:xfrm>
          <a:prstGeom prst="rect">
            <a:avLst/>
          </a:prstGeom>
        </p:spPr>
        <p:txBody>
          <a:bodyPr anchor="t" rtlCol="false" tIns="0" lIns="0" bIns="0" rIns="0">
            <a:spAutoFit/>
          </a:bodyPr>
          <a:lstStyle/>
          <a:p>
            <a:pPr algn="l">
              <a:lnSpc>
                <a:spcPts val="4320"/>
              </a:lnSpc>
            </a:pPr>
            <a:r>
              <a:rPr lang="en-US" sz="3600">
                <a:solidFill>
                  <a:srgbClr val="78350F"/>
                </a:solidFill>
                <a:latin typeface="VT323"/>
                <a:ea typeface="VT323"/>
                <a:cs typeface="VT323"/>
                <a:sym typeface="VT323"/>
              </a:rPr>
              <a:t>POL</a:t>
            </a:r>
          </a:p>
        </p:txBody>
      </p:sp>
      <p:sp>
        <p:nvSpPr>
          <p:cNvPr name="TextBox 20" id="20"/>
          <p:cNvSpPr txBox="true"/>
          <p:nvPr/>
        </p:nvSpPr>
        <p:spPr>
          <a:xfrm rot="0">
            <a:off x="1371600" y="4114800"/>
            <a:ext cx="1606897"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El novato</a:t>
            </a:r>
          </a:p>
        </p:txBody>
      </p:sp>
      <p:sp>
        <p:nvSpPr>
          <p:cNvPr name="TextBox 21" id="21"/>
          <p:cNvSpPr txBox="true"/>
          <p:nvPr/>
        </p:nvSpPr>
        <p:spPr>
          <a:xfrm rot="0">
            <a:off x="1371600" y="4743450"/>
            <a:ext cx="2628900" cy="895350"/>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Poca experiencia</a:t>
            </a:r>
          </a:p>
        </p:txBody>
      </p:sp>
      <p:sp>
        <p:nvSpPr>
          <p:cNvPr name="TextBox 22" id="22"/>
          <p:cNvSpPr txBox="true"/>
          <p:nvPr/>
        </p:nvSpPr>
        <p:spPr>
          <a:xfrm rot="0">
            <a:off x="1371600" y="5924550"/>
            <a:ext cx="2921347"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Gran inteligencia</a:t>
            </a:r>
          </a:p>
        </p:txBody>
      </p:sp>
      <p:sp>
        <p:nvSpPr>
          <p:cNvPr name="TextBox 23" id="23"/>
          <p:cNvSpPr txBox="true"/>
          <p:nvPr/>
        </p:nvSpPr>
        <p:spPr>
          <a:xfrm rot="0">
            <a:off x="5572125" y="3419475"/>
            <a:ext cx="3862978" cy="466725"/>
          </a:xfrm>
          <a:prstGeom prst="rect">
            <a:avLst/>
          </a:prstGeom>
        </p:spPr>
        <p:txBody>
          <a:bodyPr anchor="t" rtlCol="false" tIns="0" lIns="0" bIns="0" rIns="0">
            <a:spAutoFit/>
          </a:bodyPr>
          <a:lstStyle/>
          <a:p>
            <a:pPr algn="l">
              <a:lnSpc>
                <a:spcPts val="4320"/>
              </a:lnSpc>
            </a:pPr>
            <a:r>
              <a:rPr lang="en-US" sz="3600">
                <a:solidFill>
                  <a:srgbClr val="78350F"/>
                </a:solidFill>
                <a:latin typeface="VT323"/>
                <a:ea typeface="VT323"/>
                <a:cs typeface="VT323"/>
                <a:sym typeface="VT323"/>
              </a:rPr>
              <a:t>CHUCK</a:t>
            </a:r>
          </a:p>
        </p:txBody>
      </p:sp>
      <p:sp>
        <p:nvSpPr>
          <p:cNvPr name="TextBox 24" id="24"/>
          <p:cNvSpPr txBox="true"/>
          <p:nvPr/>
        </p:nvSpPr>
        <p:spPr>
          <a:xfrm rot="0">
            <a:off x="5572125" y="4114800"/>
            <a:ext cx="2036713"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El ingeniero</a:t>
            </a:r>
          </a:p>
        </p:txBody>
      </p:sp>
      <p:sp>
        <p:nvSpPr>
          <p:cNvPr name="TextBox 25" id="25"/>
          <p:cNvSpPr txBox="true"/>
          <p:nvPr/>
        </p:nvSpPr>
        <p:spPr>
          <a:xfrm rot="0">
            <a:off x="5531197" y="4805362"/>
            <a:ext cx="3127028"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Creador de armas</a:t>
            </a:r>
          </a:p>
        </p:txBody>
      </p:sp>
      <p:sp>
        <p:nvSpPr>
          <p:cNvPr name="TextBox 26" id="26"/>
          <p:cNvSpPr txBox="true"/>
          <p:nvPr/>
        </p:nvSpPr>
        <p:spPr>
          <a:xfrm rot="0">
            <a:off x="5572125" y="5500688"/>
            <a:ext cx="3219450" cy="895350"/>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Despiadado  Desconfiado</a:t>
            </a:r>
          </a:p>
        </p:txBody>
      </p:sp>
      <p:sp>
        <p:nvSpPr>
          <p:cNvPr name="TextBox 27" id="27"/>
          <p:cNvSpPr txBox="true"/>
          <p:nvPr/>
        </p:nvSpPr>
        <p:spPr>
          <a:xfrm rot="0">
            <a:off x="9772650" y="3419475"/>
            <a:ext cx="3862978" cy="466725"/>
          </a:xfrm>
          <a:prstGeom prst="rect">
            <a:avLst/>
          </a:prstGeom>
        </p:spPr>
        <p:txBody>
          <a:bodyPr anchor="t" rtlCol="false" tIns="0" lIns="0" bIns="0" rIns="0">
            <a:spAutoFit/>
          </a:bodyPr>
          <a:lstStyle/>
          <a:p>
            <a:pPr algn="l">
              <a:lnSpc>
                <a:spcPts val="4320"/>
              </a:lnSpc>
            </a:pPr>
            <a:r>
              <a:rPr lang="en-US" sz="3600">
                <a:solidFill>
                  <a:srgbClr val="78350F"/>
                </a:solidFill>
                <a:latin typeface="VT323"/>
                <a:ea typeface="VT323"/>
                <a:cs typeface="VT323"/>
                <a:sym typeface="VT323"/>
              </a:rPr>
              <a:t>VILGAX</a:t>
            </a:r>
          </a:p>
        </p:txBody>
      </p:sp>
      <p:sp>
        <p:nvSpPr>
          <p:cNvPr name="TextBox 28" id="28"/>
          <p:cNvSpPr txBox="true"/>
          <p:nvPr/>
        </p:nvSpPr>
        <p:spPr>
          <a:xfrm rot="0">
            <a:off x="9772650" y="4114800"/>
            <a:ext cx="2758083"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El superviviente</a:t>
            </a:r>
          </a:p>
        </p:txBody>
      </p:sp>
      <p:sp>
        <p:nvSpPr>
          <p:cNvPr name="TextBox 29" id="29"/>
          <p:cNvSpPr txBox="true"/>
          <p:nvPr/>
        </p:nvSpPr>
        <p:spPr>
          <a:xfrm rot="0">
            <a:off x="9701212" y="4914900"/>
            <a:ext cx="3086100" cy="895350"/>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Extremadamente cruel</a:t>
            </a:r>
          </a:p>
        </p:txBody>
      </p:sp>
      <p:sp>
        <p:nvSpPr>
          <p:cNvPr name="TextBox 30" id="30"/>
          <p:cNvSpPr txBox="true"/>
          <p:nvPr/>
        </p:nvSpPr>
        <p:spPr>
          <a:xfrm rot="0">
            <a:off x="9701212" y="6038850"/>
            <a:ext cx="3077021"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Vengador familiar</a:t>
            </a:r>
          </a:p>
        </p:txBody>
      </p:sp>
      <p:sp>
        <p:nvSpPr>
          <p:cNvPr name="TextBox 31" id="31"/>
          <p:cNvSpPr txBox="true"/>
          <p:nvPr/>
        </p:nvSpPr>
        <p:spPr>
          <a:xfrm rot="0">
            <a:off x="13973175" y="3419475"/>
            <a:ext cx="3862978" cy="466725"/>
          </a:xfrm>
          <a:prstGeom prst="rect">
            <a:avLst/>
          </a:prstGeom>
        </p:spPr>
        <p:txBody>
          <a:bodyPr anchor="t" rtlCol="false" tIns="0" lIns="0" bIns="0" rIns="0">
            <a:spAutoFit/>
          </a:bodyPr>
          <a:lstStyle/>
          <a:p>
            <a:pPr algn="l">
              <a:lnSpc>
                <a:spcPts val="4320"/>
              </a:lnSpc>
            </a:pPr>
            <a:r>
              <a:rPr lang="en-US" sz="3600">
                <a:solidFill>
                  <a:srgbClr val="78350F"/>
                </a:solidFill>
                <a:latin typeface="VT323"/>
                <a:ea typeface="VT323"/>
                <a:cs typeface="VT323"/>
                <a:sym typeface="VT323"/>
              </a:rPr>
              <a:t>CLAS</a:t>
            </a:r>
          </a:p>
        </p:txBody>
      </p:sp>
      <p:sp>
        <p:nvSpPr>
          <p:cNvPr name="TextBox 32" id="32"/>
          <p:cNvSpPr txBox="true"/>
          <p:nvPr/>
        </p:nvSpPr>
        <p:spPr>
          <a:xfrm rot="0">
            <a:off x="13973175" y="4114800"/>
            <a:ext cx="1952030"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El veterano</a:t>
            </a:r>
          </a:p>
        </p:txBody>
      </p:sp>
      <p:sp>
        <p:nvSpPr>
          <p:cNvPr name="TextBox 33" id="33"/>
          <p:cNvSpPr txBox="true"/>
          <p:nvPr/>
        </p:nvSpPr>
        <p:spPr>
          <a:xfrm rot="0">
            <a:off x="13973175" y="4914900"/>
            <a:ext cx="3104704" cy="447675"/>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Sabiduría extensa</a:t>
            </a:r>
          </a:p>
        </p:txBody>
      </p:sp>
      <p:sp>
        <p:nvSpPr>
          <p:cNvPr name="TextBox 34" id="34"/>
          <p:cNvSpPr txBox="true"/>
          <p:nvPr/>
        </p:nvSpPr>
        <p:spPr>
          <a:xfrm rot="0">
            <a:off x="13973175" y="5715000"/>
            <a:ext cx="3086100" cy="895350"/>
          </a:xfrm>
          <a:prstGeom prst="rect">
            <a:avLst/>
          </a:prstGeom>
        </p:spPr>
        <p:txBody>
          <a:bodyPr anchor="t" rtlCol="false" tIns="0" lIns="0" bIns="0" rIns="0">
            <a:spAutoFit/>
          </a:bodyPr>
          <a:lstStyle/>
          <a:p>
            <a:pPr algn="l">
              <a:lnSpc>
                <a:spcPts val="3539"/>
              </a:lnSpc>
            </a:pPr>
            <a:r>
              <a:rPr lang="en-US" sz="2949">
                <a:solidFill>
                  <a:srgbClr val="292524"/>
                </a:solidFill>
                <a:latin typeface="Inter"/>
                <a:ea typeface="Inter"/>
                <a:cs typeface="Inter"/>
                <a:sym typeface="Inter"/>
              </a:rPr>
              <a:t>Maestro de supervivencia</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0E6"/>
        </a:solidFill>
      </p:bgPr>
    </p:bg>
    <p:spTree>
      <p:nvGrpSpPr>
        <p:cNvPr id="1" name=""/>
        <p:cNvGrpSpPr/>
        <p:nvPr/>
      </p:nvGrpSpPr>
      <p:grpSpPr>
        <a:xfrm>
          <a:off x="0" y="0"/>
          <a:ext cx="0" cy="0"/>
          <a:chOff x="0" y="0"/>
          <a:chExt cx="0" cy="0"/>
        </a:xfrm>
      </p:grpSpPr>
      <p:grpSp>
        <p:nvGrpSpPr>
          <p:cNvPr name="Group 2" id="2"/>
          <p:cNvGrpSpPr/>
          <p:nvPr/>
        </p:nvGrpSpPr>
        <p:grpSpPr>
          <a:xfrm rot="0">
            <a:off x="914400" y="1957928"/>
            <a:ext cx="74598" cy="1044373"/>
            <a:chOff x="0" y="0"/>
            <a:chExt cx="76200" cy="1066800"/>
          </a:xfrm>
        </p:grpSpPr>
        <p:sp>
          <p:nvSpPr>
            <p:cNvPr name="Freeform 3" id="3"/>
            <p:cNvSpPr/>
            <p:nvPr/>
          </p:nvSpPr>
          <p:spPr>
            <a:xfrm flipH="false" flipV="false" rot="0">
              <a:off x="0" y="0"/>
              <a:ext cx="76200" cy="1066800"/>
            </a:xfrm>
            <a:custGeom>
              <a:avLst/>
              <a:gdLst/>
              <a:ahLst/>
              <a:cxnLst/>
              <a:rect r="r" b="b" t="t" l="l"/>
              <a:pathLst>
                <a:path h="1066800" w="76200">
                  <a:moveTo>
                    <a:pt x="0" y="0"/>
                  </a:moveTo>
                  <a:lnTo>
                    <a:pt x="76200" y="0"/>
                  </a:lnTo>
                  <a:lnTo>
                    <a:pt x="76200" y="1066800"/>
                  </a:lnTo>
                  <a:lnTo>
                    <a:pt x="0" y="1066800"/>
                  </a:lnTo>
                  <a:close/>
                </a:path>
              </a:pathLst>
            </a:custGeom>
            <a:solidFill>
              <a:srgbClr val="166534"/>
            </a:solidFill>
          </p:spPr>
        </p:sp>
      </p:grpSp>
      <p:grpSp>
        <p:nvGrpSpPr>
          <p:cNvPr name="Group 4" id="4"/>
          <p:cNvGrpSpPr/>
          <p:nvPr/>
        </p:nvGrpSpPr>
        <p:grpSpPr>
          <a:xfrm rot="0">
            <a:off x="914400" y="3449889"/>
            <a:ext cx="74598" cy="1044373"/>
            <a:chOff x="0" y="0"/>
            <a:chExt cx="76200" cy="1066800"/>
          </a:xfrm>
        </p:grpSpPr>
        <p:sp>
          <p:nvSpPr>
            <p:cNvPr name="Freeform 5" id="5"/>
            <p:cNvSpPr/>
            <p:nvPr/>
          </p:nvSpPr>
          <p:spPr>
            <a:xfrm flipH="false" flipV="false" rot="0">
              <a:off x="0" y="0"/>
              <a:ext cx="76200" cy="1066800"/>
            </a:xfrm>
            <a:custGeom>
              <a:avLst/>
              <a:gdLst/>
              <a:ahLst/>
              <a:cxnLst/>
              <a:rect r="r" b="b" t="t" l="l"/>
              <a:pathLst>
                <a:path h="1066800" w="76200">
                  <a:moveTo>
                    <a:pt x="0" y="0"/>
                  </a:moveTo>
                  <a:lnTo>
                    <a:pt x="76200" y="0"/>
                  </a:lnTo>
                  <a:lnTo>
                    <a:pt x="76200" y="1066800"/>
                  </a:lnTo>
                  <a:lnTo>
                    <a:pt x="0" y="1066800"/>
                  </a:lnTo>
                  <a:close/>
                </a:path>
              </a:pathLst>
            </a:custGeom>
            <a:solidFill>
              <a:srgbClr val="166534"/>
            </a:solidFill>
          </p:spPr>
        </p:sp>
      </p:grpSp>
      <p:grpSp>
        <p:nvGrpSpPr>
          <p:cNvPr name="Group 6" id="6"/>
          <p:cNvGrpSpPr/>
          <p:nvPr/>
        </p:nvGrpSpPr>
        <p:grpSpPr>
          <a:xfrm rot="0">
            <a:off x="914400" y="4941850"/>
            <a:ext cx="74598" cy="1044373"/>
            <a:chOff x="0" y="0"/>
            <a:chExt cx="76200" cy="1066800"/>
          </a:xfrm>
        </p:grpSpPr>
        <p:sp>
          <p:nvSpPr>
            <p:cNvPr name="Freeform 7" id="7"/>
            <p:cNvSpPr/>
            <p:nvPr/>
          </p:nvSpPr>
          <p:spPr>
            <a:xfrm flipH="false" flipV="false" rot="0">
              <a:off x="0" y="0"/>
              <a:ext cx="76200" cy="1066800"/>
            </a:xfrm>
            <a:custGeom>
              <a:avLst/>
              <a:gdLst/>
              <a:ahLst/>
              <a:cxnLst/>
              <a:rect r="r" b="b" t="t" l="l"/>
              <a:pathLst>
                <a:path h="1066800" w="76200">
                  <a:moveTo>
                    <a:pt x="0" y="0"/>
                  </a:moveTo>
                  <a:lnTo>
                    <a:pt x="76200" y="0"/>
                  </a:lnTo>
                  <a:lnTo>
                    <a:pt x="76200" y="1066800"/>
                  </a:lnTo>
                  <a:lnTo>
                    <a:pt x="0" y="1066800"/>
                  </a:lnTo>
                  <a:close/>
                </a:path>
              </a:pathLst>
            </a:custGeom>
            <a:solidFill>
              <a:srgbClr val="166534"/>
            </a:solidFill>
          </p:spPr>
        </p:sp>
      </p:grpSp>
      <p:grpSp>
        <p:nvGrpSpPr>
          <p:cNvPr name="Group 8" id="8"/>
          <p:cNvGrpSpPr/>
          <p:nvPr/>
        </p:nvGrpSpPr>
        <p:grpSpPr>
          <a:xfrm rot="0">
            <a:off x="914400" y="6433811"/>
            <a:ext cx="74598" cy="1044373"/>
            <a:chOff x="0" y="0"/>
            <a:chExt cx="76200" cy="1066800"/>
          </a:xfrm>
        </p:grpSpPr>
        <p:sp>
          <p:nvSpPr>
            <p:cNvPr name="Freeform 9" id="9"/>
            <p:cNvSpPr/>
            <p:nvPr/>
          </p:nvSpPr>
          <p:spPr>
            <a:xfrm flipH="false" flipV="false" rot="0">
              <a:off x="0" y="0"/>
              <a:ext cx="76200" cy="1066800"/>
            </a:xfrm>
            <a:custGeom>
              <a:avLst/>
              <a:gdLst/>
              <a:ahLst/>
              <a:cxnLst/>
              <a:rect r="r" b="b" t="t" l="l"/>
              <a:pathLst>
                <a:path h="1066800" w="76200">
                  <a:moveTo>
                    <a:pt x="0" y="0"/>
                  </a:moveTo>
                  <a:lnTo>
                    <a:pt x="76200" y="0"/>
                  </a:lnTo>
                  <a:lnTo>
                    <a:pt x="76200" y="1066800"/>
                  </a:lnTo>
                  <a:lnTo>
                    <a:pt x="0" y="1066800"/>
                  </a:lnTo>
                  <a:close/>
                </a:path>
              </a:pathLst>
            </a:custGeom>
            <a:solidFill>
              <a:srgbClr val="166534"/>
            </a:solidFill>
          </p:spPr>
        </p:sp>
      </p:grpSp>
      <p:sp>
        <p:nvSpPr>
          <p:cNvPr name="TextBox 10" id="10"/>
          <p:cNvSpPr txBox="true"/>
          <p:nvPr/>
        </p:nvSpPr>
        <p:spPr>
          <a:xfrm rot="0">
            <a:off x="914400" y="904875"/>
            <a:ext cx="17373600" cy="69532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ARSENAL</a:t>
            </a:r>
          </a:p>
        </p:txBody>
      </p:sp>
      <p:sp>
        <p:nvSpPr>
          <p:cNvPr name="TextBox 11" id="11"/>
          <p:cNvSpPr txBox="true"/>
          <p:nvPr/>
        </p:nvSpPr>
        <p:spPr>
          <a:xfrm rot="0">
            <a:off x="1287390" y="1948403"/>
            <a:ext cx="13315752" cy="531711"/>
          </a:xfrm>
          <a:prstGeom prst="rect">
            <a:avLst/>
          </a:prstGeom>
        </p:spPr>
        <p:txBody>
          <a:bodyPr anchor="t" rtlCol="false" tIns="0" lIns="0" bIns="0" rIns="0">
            <a:spAutoFit/>
          </a:bodyPr>
          <a:lstStyle/>
          <a:p>
            <a:pPr algn="l">
              <a:lnSpc>
                <a:spcPts val="4934"/>
              </a:lnSpc>
            </a:pPr>
            <a:r>
              <a:rPr lang="en-US" sz="4111">
                <a:solidFill>
                  <a:srgbClr val="292524"/>
                </a:solidFill>
                <a:latin typeface="VT323"/>
                <a:ea typeface="VT323"/>
                <a:cs typeface="VT323"/>
                <a:sym typeface="VT323"/>
              </a:rPr>
              <a:t>PISTOLA SIMPLE</a:t>
            </a:r>
          </a:p>
        </p:txBody>
      </p:sp>
      <p:sp>
        <p:nvSpPr>
          <p:cNvPr name="TextBox 12" id="12"/>
          <p:cNvSpPr txBox="true"/>
          <p:nvPr/>
        </p:nvSpPr>
        <p:spPr>
          <a:xfrm rot="0">
            <a:off x="1287390" y="2554712"/>
            <a:ext cx="4489676" cy="447588"/>
          </a:xfrm>
          <a:prstGeom prst="rect">
            <a:avLst/>
          </a:prstGeom>
        </p:spPr>
        <p:txBody>
          <a:bodyPr anchor="t" rtlCol="false" tIns="0" lIns="0" bIns="0" rIns="0">
            <a:spAutoFit/>
          </a:bodyPr>
          <a:lstStyle/>
          <a:p>
            <a:pPr algn="l">
              <a:lnSpc>
                <a:spcPts val="3524"/>
              </a:lnSpc>
            </a:pPr>
            <a:r>
              <a:rPr lang="en-US" sz="2936">
                <a:solidFill>
                  <a:srgbClr val="57534E"/>
                </a:solidFill>
                <a:latin typeface="Inter"/>
                <a:ea typeface="Inter"/>
                <a:cs typeface="Inter"/>
                <a:sym typeface="Inter"/>
              </a:rPr>
              <a:t>Tiro semiautomático lento</a:t>
            </a:r>
          </a:p>
        </p:txBody>
      </p:sp>
      <p:sp>
        <p:nvSpPr>
          <p:cNvPr name="TextBox 13" id="13"/>
          <p:cNvSpPr txBox="true"/>
          <p:nvPr/>
        </p:nvSpPr>
        <p:spPr>
          <a:xfrm rot="0">
            <a:off x="1287390" y="3440364"/>
            <a:ext cx="1670996" cy="631175"/>
          </a:xfrm>
          <a:prstGeom prst="rect">
            <a:avLst/>
          </a:prstGeom>
        </p:spPr>
        <p:txBody>
          <a:bodyPr anchor="t" rtlCol="false" tIns="0" lIns="0" bIns="0" rIns="0">
            <a:spAutoFit/>
          </a:bodyPr>
          <a:lstStyle/>
          <a:p>
            <a:pPr algn="l">
              <a:lnSpc>
                <a:spcPts val="4934"/>
              </a:lnSpc>
            </a:pPr>
            <a:r>
              <a:rPr lang="en-US" sz="4111">
                <a:solidFill>
                  <a:srgbClr val="292524"/>
                </a:solidFill>
                <a:latin typeface="VT323"/>
                <a:ea typeface="VT323"/>
                <a:cs typeface="VT323"/>
                <a:sym typeface="VT323"/>
              </a:rPr>
              <a:t>ESCOPETA</a:t>
            </a:r>
          </a:p>
        </p:txBody>
      </p:sp>
      <p:sp>
        <p:nvSpPr>
          <p:cNvPr name="TextBox 14" id="14"/>
          <p:cNvSpPr txBox="true"/>
          <p:nvPr/>
        </p:nvSpPr>
        <p:spPr>
          <a:xfrm rot="0">
            <a:off x="1287390" y="4046673"/>
            <a:ext cx="4929221" cy="447588"/>
          </a:xfrm>
          <a:prstGeom prst="rect">
            <a:avLst/>
          </a:prstGeom>
        </p:spPr>
        <p:txBody>
          <a:bodyPr anchor="t" rtlCol="false" tIns="0" lIns="0" bIns="0" rIns="0">
            <a:spAutoFit/>
          </a:bodyPr>
          <a:lstStyle/>
          <a:p>
            <a:pPr algn="l">
              <a:lnSpc>
                <a:spcPts val="3524"/>
              </a:lnSpc>
            </a:pPr>
            <a:r>
              <a:rPr lang="en-US" sz="2936">
                <a:solidFill>
                  <a:srgbClr val="57534E"/>
                </a:solidFill>
                <a:latin typeface="Inter"/>
                <a:ea typeface="Inter"/>
                <a:cs typeface="Inter"/>
                <a:sym typeface="Inter"/>
              </a:rPr>
              <a:t>Mucho daño </a:t>
            </a:r>
            <a:r>
              <a:rPr lang="en-US" sz="2936">
                <a:solidFill>
                  <a:srgbClr val="57534E"/>
                </a:solidFill>
                <a:latin typeface="Inter"/>
                <a:ea typeface="Inter"/>
                <a:cs typeface="Inter"/>
                <a:sym typeface="Inter"/>
              </a:rPr>
              <a:t>y corto alcance</a:t>
            </a:r>
          </a:p>
        </p:txBody>
      </p:sp>
      <p:sp>
        <p:nvSpPr>
          <p:cNvPr name="TextBox 15" id="15"/>
          <p:cNvSpPr txBox="true"/>
          <p:nvPr/>
        </p:nvSpPr>
        <p:spPr>
          <a:xfrm rot="0">
            <a:off x="1287390" y="4932325"/>
            <a:ext cx="13315752" cy="531711"/>
          </a:xfrm>
          <a:prstGeom prst="rect">
            <a:avLst/>
          </a:prstGeom>
        </p:spPr>
        <p:txBody>
          <a:bodyPr anchor="t" rtlCol="false" tIns="0" lIns="0" bIns="0" rIns="0">
            <a:spAutoFit/>
          </a:bodyPr>
          <a:lstStyle/>
          <a:p>
            <a:pPr algn="l">
              <a:lnSpc>
                <a:spcPts val="4934"/>
              </a:lnSpc>
            </a:pPr>
            <a:r>
              <a:rPr lang="en-US" sz="4111">
                <a:solidFill>
                  <a:srgbClr val="292524"/>
                </a:solidFill>
                <a:latin typeface="VT323"/>
                <a:ea typeface="VT323"/>
                <a:cs typeface="VT323"/>
                <a:sym typeface="VT323"/>
              </a:rPr>
              <a:t>FUSIL AUTOMÁTICO</a:t>
            </a:r>
          </a:p>
        </p:txBody>
      </p:sp>
      <p:sp>
        <p:nvSpPr>
          <p:cNvPr name="TextBox 16" id="16"/>
          <p:cNvSpPr txBox="true"/>
          <p:nvPr/>
        </p:nvSpPr>
        <p:spPr>
          <a:xfrm rot="0">
            <a:off x="1287390" y="5538634"/>
            <a:ext cx="7788114" cy="447588"/>
          </a:xfrm>
          <a:prstGeom prst="rect">
            <a:avLst/>
          </a:prstGeom>
        </p:spPr>
        <p:txBody>
          <a:bodyPr anchor="t" rtlCol="false" tIns="0" lIns="0" bIns="0" rIns="0">
            <a:spAutoFit/>
          </a:bodyPr>
          <a:lstStyle/>
          <a:p>
            <a:pPr algn="l">
              <a:lnSpc>
                <a:spcPts val="3524"/>
              </a:lnSpc>
            </a:pPr>
            <a:r>
              <a:rPr lang="en-US" sz="2936">
                <a:solidFill>
                  <a:srgbClr val="57534E"/>
                </a:solidFill>
                <a:latin typeface="Inter"/>
                <a:ea typeface="Inter"/>
                <a:cs typeface="Inter"/>
                <a:sym typeface="Inter"/>
              </a:rPr>
              <a:t>Alta velocidad entre disparos, poca precisión</a:t>
            </a:r>
          </a:p>
        </p:txBody>
      </p:sp>
      <p:sp>
        <p:nvSpPr>
          <p:cNvPr name="TextBox 17" id="17"/>
          <p:cNvSpPr txBox="true"/>
          <p:nvPr/>
        </p:nvSpPr>
        <p:spPr>
          <a:xfrm rot="0">
            <a:off x="1287390" y="6424286"/>
            <a:ext cx="626624" cy="631175"/>
          </a:xfrm>
          <a:prstGeom prst="rect">
            <a:avLst/>
          </a:prstGeom>
        </p:spPr>
        <p:txBody>
          <a:bodyPr anchor="t" rtlCol="false" tIns="0" lIns="0" bIns="0" rIns="0">
            <a:spAutoFit/>
          </a:bodyPr>
          <a:lstStyle/>
          <a:p>
            <a:pPr algn="l">
              <a:lnSpc>
                <a:spcPts val="4934"/>
              </a:lnSpc>
            </a:pPr>
            <a:r>
              <a:rPr lang="en-US" sz="4111">
                <a:solidFill>
                  <a:srgbClr val="292524"/>
                </a:solidFill>
                <a:latin typeface="VT323"/>
                <a:ea typeface="VT323"/>
                <a:cs typeface="VT323"/>
                <a:sym typeface="VT323"/>
              </a:rPr>
              <a:t>UZI</a:t>
            </a:r>
          </a:p>
        </p:txBody>
      </p:sp>
      <p:sp>
        <p:nvSpPr>
          <p:cNvPr name="TextBox 18" id="18"/>
          <p:cNvSpPr txBox="true"/>
          <p:nvPr/>
        </p:nvSpPr>
        <p:spPr>
          <a:xfrm rot="0">
            <a:off x="1287390" y="7030595"/>
            <a:ext cx="8407822" cy="447588"/>
          </a:xfrm>
          <a:prstGeom prst="rect">
            <a:avLst/>
          </a:prstGeom>
        </p:spPr>
        <p:txBody>
          <a:bodyPr anchor="t" rtlCol="false" tIns="0" lIns="0" bIns="0" rIns="0">
            <a:spAutoFit/>
          </a:bodyPr>
          <a:lstStyle/>
          <a:p>
            <a:pPr algn="l">
              <a:lnSpc>
                <a:spcPts val="3524"/>
              </a:lnSpc>
            </a:pPr>
            <a:r>
              <a:rPr lang="en-US" sz="2936">
                <a:solidFill>
                  <a:srgbClr val="57534E"/>
                </a:solidFill>
                <a:latin typeface="Inter"/>
                <a:ea typeface="Inter"/>
                <a:cs typeface="Inter"/>
                <a:sym typeface="Inter"/>
              </a:rPr>
              <a:t>Cade</a:t>
            </a:r>
            <a:r>
              <a:rPr lang="en-US" sz="2936">
                <a:solidFill>
                  <a:srgbClr val="57534E"/>
                </a:solidFill>
                <a:latin typeface="Inter"/>
                <a:ea typeface="Inter"/>
                <a:cs typeface="Inter"/>
                <a:sym typeface="Inter"/>
              </a:rPr>
              <a:t>ncia muy rápida, pero con un alcance corto</a:t>
            </a:r>
          </a:p>
        </p:txBody>
      </p:sp>
      <p:grpSp>
        <p:nvGrpSpPr>
          <p:cNvPr name="Group 19" id="19"/>
          <p:cNvGrpSpPr/>
          <p:nvPr/>
        </p:nvGrpSpPr>
        <p:grpSpPr>
          <a:xfrm rot="0">
            <a:off x="914400" y="7925858"/>
            <a:ext cx="74598" cy="1044373"/>
            <a:chOff x="0" y="0"/>
            <a:chExt cx="76200" cy="1066800"/>
          </a:xfrm>
        </p:grpSpPr>
        <p:sp>
          <p:nvSpPr>
            <p:cNvPr name="Freeform 20" id="20"/>
            <p:cNvSpPr/>
            <p:nvPr/>
          </p:nvSpPr>
          <p:spPr>
            <a:xfrm flipH="false" flipV="false" rot="0">
              <a:off x="0" y="0"/>
              <a:ext cx="76200" cy="1066800"/>
            </a:xfrm>
            <a:custGeom>
              <a:avLst/>
              <a:gdLst/>
              <a:ahLst/>
              <a:cxnLst/>
              <a:rect r="r" b="b" t="t" l="l"/>
              <a:pathLst>
                <a:path h="1066800" w="76200">
                  <a:moveTo>
                    <a:pt x="0" y="0"/>
                  </a:moveTo>
                  <a:lnTo>
                    <a:pt x="76200" y="0"/>
                  </a:lnTo>
                  <a:lnTo>
                    <a:pt x="76200" y="1066800"/>
                  </a:lnTo>
                  <a:lnTo>
                    <a:pt x="0" y="1066800"/>
                  </a:lnTo>
                  <a:close/>
                </a:path>
              </a:pathLst>
            </a:custGeom>
            <a:solidFill>
              <a:srgbClr val="DC2626"/>
            </a:solidFill>
          </p:spPr>
        </p:sp>
      </p:grpSp>
      <p:sp>
        <p:nvSpPr>
          <p:cNvPr name="TextBox 21" id="21"/>
          <p:cNvSpPr txBox="true"/>
          <p:nvPr/>
        </p:nvSpPr>
        <p:spPr>
          <a:xfrm rot="0">
            <a:off x="1287390" y="7916333"/>
            <a:ext cx="13315752" cy="531711"/>
          </a:xfrm>
          <a:prstGeom prst="rect">
            <a:avLst/>
          </a:prstGeom>
        </p:spPr>
        <p:txBody>
          <a:bodyPr anchor="t" rtlCol="false" tIns="0" lIns="0" bIns="0" rIns="0">
            <a:spAutoFit/>
          </a:bodyPr>
          <a:lstStyle/>
          <a:p>
            <a:pPr algn="l">
              <a:lnSpc>
                <a:spcPts val="4934"/>
              </a:lnSpc>
            </a:pPr>
            <a:r>
              <a:rPr lang="en-US" sz="4111">
                <a:solidFill>
                  <a:srgbClr val="292524"/>
                </a:solidFill>
                <a:latin typeface="VT323"/>
                <a:ea typeface="VT323"/>
                <a:cs typeface="VT323"/>
                <a:sym typeface="VT323"/>
              </a:rPr>
              <a:t>GRANADAS</a:t>
            </a:r>
          </a:p>
        </p:txBody>
      </p:sp>
      <p:sp>
        <p:nvSpPr>
          <p:cNvPr name="TextBox 22" id="22"/>
          <p:cNvSpPr txBox="true"/>
          <p:nvPr/>
        </p:nvSpPr>
        <p:spPr>
          <a:xfrm rot="0">
            <a:off x="1287390" y="8522643"/>
            <a:ext cx="6910616" cy="447588"/>
          </a:xfrm>
          <a:prstGeom prst="rect">
            <a:avLst/>
          </a:prstGeom>
        </p:spPr>
        <p:txBody>
          <a:bodyPr anchor="t" rtlCol="false" tIns="0" lIns="0" bIns="0" rIns="0">
            <a:spAutoFit/>
          </a:bodyPr>
          <a:lstStyle/>
          <a:p>
            <a:pPr algn="l">
              <a:lnSpc>
                <a:spcPts val="3524"/>
              </a:lnSpc>
            </a:pPr>
            <a:r>
              <a:rPr lang="en-US" sz="2936">
                <a:solidFill>
                  <a:srgbClr val="57534E"/>
                </a:solidFill>
                <a:latin typeface="Inter"/>
                <a:ea typeface="Inter"/>
                <a:cs typeface="Inter"/>
                <a:sym typeface="Inter"/>
              </a:rPr>
              <a:t>Munición volátil con caída por gravedad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grpSp>
        <p:nvGrpSpPr>
          <p:cNvPr name="Group 2" id="2"/>
          <p:cNvGrpSpPr/>
          <p:nvPr/>
        </p:nvGrpSpPr>
        <p:grpSpPr>
          <a:xfrm rot="0">
            <a:off x="914400" y="2286000"/>
            <a:ext cx="5257800" cy="7086600"/>
            <a:chOff x="0" y="0"/>
            <a:chExt cx="7010400" cy="9448800"/>
          </a:xfrm>
        </p:grpSpPr>
        <p:sp>
          <p:nvSpPr>
            <p:cNvPr name="Freeform 3" id="3"/>
            <p:cNvSpPr/>
            <p:nvPr/>
          </p:nvSpPr>
          <p:spPr>
            <a:xfrm flipH="false" flipV="false" rot="0">
              <a:off x="0" y="0"/>
              <a:ext cx="7010400" cy="9448800"/>
            </a:xfrm>
            <a:custGeom>
              <a:avLst/>
              <a:gdLst/>
              <a:ahLst/>
              <a:cxnLst/>
              <a:rect r="r" b="b" t="t" l="l"/>
              <a:pathLst>
                <a:path h="9448800" w="7010400">
                  <a:moveTo>
                    <a:pt x="0" y="0"/>
                  </a:moveTo>
                  <a:lnTo>
                    <a:pt x="7010400" y="0"/>
                  </a:lnTo>
                  <a:lnTo>
                    <a:pt x="7010400" y="9448800"/>
                  </a:lnTo>
                  <a:lnTo>
                    <a:pt x="0" y="9448800"/>
                  </a:lnTo>
                  <a:close/>
                </a:path>
              </a:pathLst>
            </a:custGeom>
            <a:solidFill>
              <a:srgbClr val="E7E5E4"/>
            </a:solidFill>
          </p:spPr>
        </p:sp>
      </p:grpSp>
      <p:grpSp>
        <p:nvGrpSpPr>
          <p:cNvPr name="Group 4" id="4"/>
          <p:cNvGrpSpPr/>
          <p:nvPr/>
        </p:nvGrpSpPr>
        <p:grpSpPr>
          <a:xfrm rot="0">
            <a:off x="6515100" y="2286000"/>
            <a:ext cx="5257800" cy="7086600"/>
            <a:chOff x="0" y="0"/>
            <a:chExt cx="7010400" cy="9448800"/>
          </a:xfrm>
        </p:grpSpPr>
        <p:sp>
          <p:nvSpPr>
            <p:cNvPr name="Freeform 5" id="5"/>
            <p:cNvSpPr/>
            <p:nvPr/>
          </p:nvSpPr>
          <p:spPr>
            <a:xfrm flipH="false" flipV="false" rot="0">
              <a:off x="0" y="0"/>
              <a:ext cx="7010400" cy="9448800"/>
            </a:xfrm>
            <a:custGeom>
              <a:avLst/>
              <a:gdLst/>
              <a:ahLst/>
              <a:cxnLst/>
              <a:rect r="r" b="b" t="t" l="l"/>
              <a:pathLst>
                <a:path h="9448800" w="7010400">
                  <a:moveTo>
                    <a:pt x="0" y="0"/>
                  </a:moveTo>
                  <a:lnTo>
                    <a:pt x="7010400" y="0"/>
                  </a:lnTo>
                  <a:lnTo>
                    <a:pt x="7010400" y="9448800"/>
                  </a:lnTo>
                  <a:lnTo>
                    <a:pt x="0" y="9448800"/>
                  </a:lnTo>
                  <a:close/>
                </a:path>
              </a:pathLst>
            </a:custGeom>
            <a:solidFill>
              <a:srgbClr val="E7E5E4"/>
            </a:solidFill>
          </p:spPr>
        </p:sp>
      </p:grpSp>
      <p:grpSp>
        <p:nvGrpSpPr>
          <p:cNvPr name="Group 6" id="6"/>
          <p:cNvGrpSpPr/>
          <p:nvPr/>
        </p:nvGrpSpPr>
        <p:grpSpPr>
          <a:xfrm rot="0">
            <a:off x="12115800" y="2286000"/>
            <a:ext cx="5257800" cy="7086600"/>
            <a:chOff x="0" y="0"/>
            <a:chExt cx="7010400" cy="9448800"/>
          </a:xfrm>
        </p:grpSpPr>
        <p:sp>
          <p:nvSpPr>
            <p:cNvPr name="Freeform 7" id="7"/>
            <p:cNvSpPr/>
            <p:nvPr/>
          </p:nvSpPr>
          <p:spPr>
            <a:xfrm flipH="false" flipV="false" rot="0">
              <a:off x="0" y="0"/>
              <a:ext cx="7010400" cy="9448800"/>
            </a:xfrm>
            <a:custGeom>
              <a:avLst/>
              <a:gdLst/>
              <a:ahLst/>
              <a:cxnLst/>
              <a:rect r="r" b="b" t="t" l="l"/>
              <a:pathLst>
                <a:path h="9448800" w="7010400">
                  <a:moveTo>
                    <a:pt x="0" y="0"/>
                  </a:moveTo>
                  <a:lnTo>
                    <a:pt x="7010400" y="0"/>
                  </a:lnTo>
                  <a:lnTo>
                    <a:pt x="7010400" y="9448800"/>
                  </a:lnTo>
                  <a:lnTo>
                    <a:pt x="0" y="9448800"/>
                  </a:lnTo>
                  <a:close/>
                </a:path>
              </a:pathLst>
            </a:custGeom>
            <a:solidFill>
              <a:srgbClr val="E7E5E4"/>
            </a:solidFill>
          </p:spPr>
        </p:sp>
      </p:grpSp>
      <p:grpSp>
        <p:nvGrpSpPr>
          <p:cNvPr name="Group 8" id="8"/>
          <p:cNvGrpSpPr/>
          <p:nvPr/>
        </p:nvGrpSpPr>
        <p:grpSpPr>
          <a:xfrm rot="0">
            <a:off x="3207544" y="4857750"/>
            <a:ext cx="671512" cy="685800"/>
            <a:chOff x="0" y="0"/>
            <a:chExt cx="895350" cy="914400"/>
          </a:xfrm>
        </p:grpSpPr>
        <p:sp>
          <p:nvSpPr>
            <p:cNvPr name="Freeform 9" id="9" descr="image.png"/>
            <p:cNvSpPr/>
            <p:nvPr/>
          </p:nvSpPr>
          <p:spPr>
            <a:xfrm flipH="false" flipV="false" rot="0">
              <a:off x="0" y="0"/>
              <a:ext cx="895350" cy="914400"/>
            </a:xfrm>
            <a:custGeom>
              <a:avLst/>
              <a:gdLst/>
              <a:ahLst/>
              <a:cxnLst/>
              <a:rect r="r" b="b" t="t" l="l"/>
              <a:pathLst>
                <a:path h="914400" w="895350">
                  <a:moveTo>
                    <a:pt x="0" y="0"/>
                  </a:moveTo>
                  <a:lnTo>
                    <a:pt x="895350" y="0"/>
                  </a:lnTo>
                  <a:lnTo>
                    <a:pt x="895350" y="914400"/>
                  </a:lnTo>
                  <a:lnTo>
                    <a:pt x="0" y="914400"/>
                  </a:lnTo>
                  <a:lnTo>
                    <a:pt x="0" y="0"/>
                  </a:lnTo>
                  <a:close/>
                </a:path>
              </a:pathLst>
            </a:custGeom>
            <a:blipFill>
              <a:blip r:embed="rId2"/>
              <a:stretch>
                <a:fillRect l="-1063" t="0" r="-1063" b="0"/>
              </a:stretch>
            </a:blipFill>
          </p:spPr>
        </p:sp>
      </p:grpSp>
      <p:grpSp>
        <p:nvGrpSpPr>
          <p:cNvPr name="Group 10" id="10"/>
          <p:cNvGrpSpPr/>
          <p:nvPr/>
        </p:nvGrpSpPr>
        <p:grpSpPr>
          <a:xfrm rot="0">
            <a:off x="8715375" y="4686300"/>
            <a:ext cx="857250" cy="685800"/>
            <a:chOff x="0" y="0"/>
            <a:chExt cx="1143000" cy="914400"/>
          </a:xfrm>
        </p:grpSpPr>
        <p:sp>
          <p:nvSpPr>
            <p:cNvPr name="Freeform 11" id="11" descr="image.png"/>
            <p:cNvSpPr/>
            <p:nvPr/>
          </p:nvSpPr>
          <p:spPr>
            <a:xfrm flipH="false" flipV="false" rot="0">
              <a:off x="0" y="0"/>
              <a:ext cx="1143000" cy="914400"/>
            </a:xfrm>
            <a:custGeom>
              <a:avLst/>
              <a:gdLst/>
              <a:ahLst/>
              <a:cxnLst/>
              <a:rect r="r" b="b" t="t" l="l"/>
              <a:pathLst>
                <a:path h="914400" w="1143000">
                  <a:moveTo>
                    <a:pt x="0" y="0"/>
                  </a:moveTo>
                  <a:lnTo>
                    <a:pt x="1143000" y="0"/>
                  </a:lnTo>
                  <a:lnTo>
                    <a:pt x="1143000" y="914400"/>
                  </a:lnTo>
                  <a:lnTo>
                    <a:pt x="0" y="914400"/>
                  </a:lnTo>
                  <a:lnTo>
                    <a:pt x="0" y="0"/>
                  </a:lnTo>
                  <a:close/>
                </a:path>
              </a:pathLst>
            </a:custGeom>
            <a:blipFill>
              <a:blip r:embed="rId3"/>
              <a:stretch>
                <a:fillRect l="0" t="0" r="0" b="0"/>
              </a:stretch>
            </a:blipFill>
          </p:spPr>
        </p:sp>
      </p:grpSp>
      <p:grpSp>
        <p:nvGrpSpPr>
          <p:cNvPr name="Group 12" id="12"/>
          <p:cNvGrpSpPr/>
          <p:nvPr/>
        </p:nvGrpSpPr>
        <p:grpSpPr>
          <a:xfrm rot="0">
            <a:off x="14401800" y="4857750"/>
            <a:ext cx="685800" cy="685800"/>
            <a:chOff x="0" y="0"/>
            <a:chExt cx="914400" cy="914400"/>
          </a:xfrm>
        </p:grpSpPr>
        <p:sp>
          <p:nvSpPr>
            <p:cNvPr name="Freeform 13" id="13" descr="image.png"/>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lnTo>
                    <a:pt x="0" y="0"/>
                  </a:lnTo>
                  <a:close/>
                </a:path>
              </a:pathLst>
            </a:custGeom>
            <a:blipFill>
              <a:blip r:embed="rId4"/>
              <a:stretch>
                <a:fillRect l="0" t="0" r="0" b="0"/>
              </a:stretch>
            </a:blipFill>
          </p:spPr>
        </p:sp>
      </p:grpSp>
      <p:sp>
        <p:nvSpPr>
          <p:cNvPr name="TextBox 14" id="14"/>
          <p:cNvSpPr txBox="true"/>
          <p:nvPr/>
        </p:nvSpPr>
        <p:spPr>
          <a:xfrm rot="0">
            <a:off x="914400" y="904875"/>
            <a:ext cx="17373600" cy="695325"/>
          </a:xfrm>
          <a:prstGeom prst="rect">
            <a:avLst/>
          </a:prstGeom>
        </p:spPr>
        <p:txBody>
          <a:bodyPr anchor="t" rtlCol="false" tIns="0" lIns="0" bIns="0" rIns="0">
            <a:spAutoFit/>
          </a:bodyPr>
          <a:lstStyle/>
          <a:p>
            <a:pPr algn="l">
              <a:lnSpc>
                <a:spcPts val="6480"/>
              </a:lnSpc>
            </a:pPr>
            <a:r>
              <a:rPr lang="en-US" sz="5400">
                <a:solidFill>
                  <a:srgbClr val="78350F"/>
                </a:solidFill>
                <a:latin typeface="VT323"/>
                <a:ea typeface="VT323"/>
                <a:cs typeface="VT323"/>
                <a:sym typeface="VT323"/>
              </a:rPr>
              <a:t>ESTRATEGIA DE DIFUSIÓN</a:t>
            </a:r>
          </a:p>
        </p:txBody>
      </p:sp>
      <p:sp>
        <p:nvSpPr>
          <p:cNvPr name="TextBox 15" id="15"/>
          <p:cNvSpPr txBox="true"/>
          <p:nvPr/>
        </p:nvSpPr>
        <p:spPr>
          <a:xfrm rot="0">
            <a:off x="2099367" y="5886450"/>
            <a:ext cx="2887856" cy="400050"/>
          </a:xfrm>
          <a:prstGeom prst="rect">
            <a:avLst/>
          </a:prstGeom>
        </p:spPr>
        <p:txBody>
          <a:bodyPr anchor="t" rtlCol="false" tIns="0" lIns="0" bIns="0" rIns="0">
            <a:spAutoFit/>
          </a:bodyPr>
          <a:lstStyle/>
          <a:p>
            <a:pPr algn="ctr">
              <a:lnSpc>
                <a:spcPts val="3779"/>
              </a:lnSpc>
            </a:pPr>
            <a:r>
              <a:rPr lang="en-US" sz="3150">
                <a:solidFill>
                  <a:srgbClr val="292524"/>
                </a:solidFill>
                <a:latin typeface="VT323"/>
                <a:ea typeface="VT323"/>
                <a:cs typeface="VT323"/>
                <a:sym typeface="VT323"/>
              </a:rPr>
              <a:t>DEVLOG CENTRAL</a:t>
            </a:r>
          </a:p>
        </p:txBody>
      </p:sp>
      <p:sp>
        <p:nvSpPr>
          <p:cNvPr name="TextBox 16" id="16"/>
          <p:cNvSpPr txBox="true"/>
          <p:nvPr/>
        </p:nvSpPr>
        <p:spPr>
          <a:xfrm rot="0">
            <a:off x="1150144" y="6448425"/>
            <a:ext cx="4786312" cy="352425"/>
          </a:xfrm>
          <a:prstGeom prst="rect">
            <a:avLst/>
          </a:prstGeom>
        </p:spPr>
        <p:txBody>
          <a:bodyPr anchor="t" rtlCol="false" tIns="0" lIns="0" bIns="0" rIns="0">
            <a:spAutoFit/>
          </a:bodyPr>
          <a:lstStyle/>
          <a:p>
            <a:pPr algn="ctr">
              <a:lnSpc>
                <a:spcPts val="2700"/>
              </a:lnSpc>
            </a:pPr>
            <a:r>
              <a:rPr lang="en-US" sz="2250">
                <a:solidFill>
                  <a:srgbClr val="57534E"/>
                </a:solidFill>
                <a:latin typeface="Inter"/>
                <a:ea typeface="Inter"/>
                <a:cs typeface="Inter"/>
                <a:sym typeface="Inter"/>
              </a:rPr>
              <a:t>Diario de desarrollo público.</a:t>
            </a:r>
          </a:p>
        </p:txBody>
      </p:sp>
      <p:sp>
        <p:nvSpPr>
          <p:cNvPr name="TextBox 17" id="17"/>
          <p:cNvSpPr txBox="true"/>
          <p:nvPr/>
        </p:nvSpPr>
        <p:spPr>
          <a:xfrm rot="0">
            <a:off x="7700067" y="5715000"/>
            <a:ext cx="2887856" cy="400050"/>
          </a:xfrm>
          <a:prstGeom prst="rect">
            <a:avLst/>
          </a:prstGeom>
        </p:spPr>
        <p:txBody>
          <a:bodyPr anchor="t" rtlCol="false" tIns="0" lIns="0" bIns="0" rIns="0">
            <a:spAutoFit/>
          </a:bodyPr>
          <a:lstStyle/>
          <a:p>
            <a:pPr algn="ctr">
              <a:lnSpc>
                <a:spcPts val="3779"/>
              </a:lnSpc>
            </a:pPr>
            <a:r>
              <a:rPr lang="en-US" sz="3150">
                <a:solidFill>
                  <a:srgbClr val="292524"/>
                </a:solidFill>
                <a:latin typeface="VT323"/>
                <a:ea typeface="VT323"/>
                <a:cs typeface="VT323"/>
                <a:sym typeface="VT323"/>
              </a:rPr>
              <a:t>PORTALES INDIE</a:t>
            </a:r>
          </a:p>
        </p:txBody>
      </p:sp>
      <p:sp>
        <p:nvSpPr>
          <p:cNvPr name="TextBox 18" id="18"/>
          <p:cNvSpPr txBox="true"/>
          <p:nvPr/>
        </p:nvSpPr>
        <p:spPr>
          <a:xfrm rot="0">
            <a:off x="6429375" y="6276975"/>
            <a:ext cx="5429250" cy="695325"/>
          </a:xfrm>
          <a:prstGeom prst="rect">
            <a:avLst/>
          </a:prstGeom>
        </p:spPr>
        <p:txBody>
          <a:bodyPr anchor="t" rtlCol="false" tIns="0" lIns="0" bIns="0" rIns="0">
            <a:spAutoFit/>
          </a:bodyPr>
          <a:lstStyle/>
          <a:p>
            <a:pPr algn="ctr">
              <a:lnSpc>
                <a:spcPts val="2700"/>
              </a:lnSpc>
            </a:pPr>
            <a:r>
              <a:rPr lang="en-US" sz="2250">
                <a:solidFill>
                  <a:srgbClr val="57534E"/>
                </a:solidFill>
                <a:latin typeface="Inter"/>
                <a:ea typeface="Inter"/>
                <a:cs typeface="Inter"/>
                <a:sym typeface="Inter"/>
              </a:rPr>
              <a:t>Publicación en Itch.io y Game Jolt.</a:t>
            </a:r>
          </a:p>
        </p:txBody>
      </p:sp>
      <p:sp>
        <p:nvSpPr>
          <p:cNvPr name="TextBox 19" id="19"/>
          <p:cNvSpPr txBox="true"/>
          <p:nvPr/>
        </p:nvSpPr>
        <p:spPr>
          <a:xfrm rot="0">
            <a:off x="13300767" y="5886450"/>
            <a:ext cx="2887856" cy="400050"/>
          </a:xfrm>
          <a:prstGeom prst="rect">
            <a:avLst/>
          </a:prstGeom>
        </p:spPr>
        <p:txBody>
          <a:bodyPr anchor="t" rtlCol="false" tIns="0" lIns="0" bIns="0" rIns="0">
            <a:spAutoFit/>
          </a:bodyPr>
          <a:lstStyle/>
          <a:p>
            <a:pPr algn="ctr">
              <a:lnSpc>
                <a:spcPts val="3779"/>
              </a:lnSpc>
            </a:pPr>
            <a:r>
              <a:rPr lang="en-US" sz="3150">
                <a:solidFill>
                  <a:srgbClr val="292524"/>
                </a:solidFill>
                <a:latin typeface="VT323"/>
                <a:ea typeface="VT323"/>
                <a:cs typeface="VT323"/>
                <a:sym typeface="VT323"/>
              </a:rPr>
              <a:t>REDES SOCIALES</a:t>
            </a:r>
          </a:p>
        </p:txBody>
      </p:sp>
      <p:sp>
        <p:nvSpPr>
          <p:cNvPr name="TextBox 20" id="20"/>
          <p:cNvSpPr txBox="true"/>
          <p:nvPr/>
        </p:nvSpPr>
        <p:spPr>
          <a:xfrm rot="0">
            <a:off x="12458700" y="6448425"/>
            <a:ext cx="4572000" cy="352425"/>
          </a:xfrm>
          <a:prstGeom prst="rect">
            <a:avLst/>
          </a:prstGeom>
        </p:spPr>
        <p:txBody>
          <a:bodyPr anchor="t" rtlCol="false" tIns="0" lIns="0" bIns="0" rIns="0">
            <a:spAutoFit/>
          </a:bodyPr>
          <a:lstStyle/>
          <a:p>
            <a:pPr algn="ctr">
              <a:lnSpc>
                <a:spcPts val="2700"/>
              </a:lnSpc>
            </a:pPr>
            <a:r>
              <a:rPr lang="en-US" sz="2250">
                <a:solidFill>
                  <a:srgbClr val="57534E"/>
                </a:solidFill>
                <a:latin typeface="Inter"/>
                <a:ea typeface="Inter"/>
                <a:cs typeface="Inter"/>
                <a:sym typeface="Inter"/>
              </a:rPr>
              <a:t>Clips cortos en TikTok y X.</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0E6"/>
        </a:solidFill>
      </p:bgPr>
    </p:bg>
    <p:spTree>
      <p:nvGrpSpPr>
        <p:cNvPr id="1" name=""/>
        <p:cNvGrpSpPr/>
        <p:nvPr/>
      </p:nvGrpSpPr>
      <p:grpSpPr>
        <a:xfrm>
          <a:off x="0" y="0"/>
          <a:ext cx="0" cy="0"/>
          <a:chOff x="0" y="0"/>
          <a:chExt cx="0" cy="0"/>
        </a:xfrm>
      </p:grpSpPr>
      <p:sp>
        <p:nvSpPr>
          <p:cNvPr name="TextBox 2" id="2"/>
          <p:cNvSpPr txBox="true"/>
          <p:nvPr/>
        </p:nvSpPr>
        <p:spPr>
          <a:xfrm rot="0">
            <a:off x="914400" y="630856"/>
            <a:ext cx="3294761" cy="1102694"/>
          </a:xfrm>
          <a:prstGeom prst="rect">
            <a:avLst/>
          </a:prstGeom>
        </p:spPr>
        <p:txBody>
          <a:bodyPr anchor="t" rtlCol="false" tIns="0" lIns="0" bIns="0" rIns="0">
            <a:spAutoFit/>
          </a:bodyPr>
          <a:lstStyle/>
          <a:p>
            <a:pPr algn="l">
              <a:lnSpc>
                <a:spcPts val="8647"/>
              </a:lnSpc>
            </a:pPr>
            <a:r>
              <a:rPr lang="en-US" sz="7206">
                <a:solidFill>
                  <a:srgbClr val="78350F"/>
                </a:solidFill>
                <a:latin typeface="VT323"/>
                <a:ea typeface="VT323"/>
                <a:cs typeface="VT323"/>
                <a:sym typeface="VT323"/>
              </a:rPr>
              <a:t>Preguntas</a:t>
            </a:r>
          </a:p>
        </p:txBody>
      </p:sp>
      <p:sp>
        <p:nvSpPr>
          <p:cNvPr name="Freeform 3" id="3"/>
          <p:cNvSpPr/>
          <p:nvPr/>
        </p:nvSpPr>
        <p:spPr>
          <a:xfrm flipH="false" flipV="false" rot="0">
            <a:off x="4983736" y="2694837"/>
            <a:ext cx="7423038" cy="7423038"/>
          </a:xfrm>
          <a:custGeom>
            <a:avLst/>
            <a:gdLst/>
            <a:ahLst/>
            <a:cxnLst/>
            <a:rect r="r" b="b" t="t" l="l"/>
            <a:pathLst>
              <a:path h="7423038" w="7423038">
                <a:moveTo>
                  <a:pt x="0" y="0"/>
                </a:moveTo>
                <a:lnTo>
                  <a:pt x="7423038" y="0"/>
                </a:lnTo>
                <a:lnTo>
                  <a:pt x="7423038" y="7423038"/>
                </a:lnTo>
                <a:lnTo>
                  <a:pt x="0" y="7423038"/>
                </a:lnTo>
                <a:lnTo>
                  <a:pt x="0" y="0"/>
                </a:lnTo>
                <a:close/>
              </a:path>
            </a:pathLst>
          </a:custGeom>
          <a:blipFill>
            <a:blip r:embed="rId2"/>
            <a:stretch>
              <a:fillRect l="0" t="0" r="0" b="0"/>
            </a:stretch>
          </a:blipFill>
        </p:spPr>
      </p:sp>
      <p:sp>
        <p:nvSpPr>
          <p:cNvPr name="TextBox 4" id="4"/>
          <p:cNvSpPr txBox="true"/>
          <p:nvPr/>
        </p:nvSpPr>
        <p:spPr>
          <a:xfrm rot="0">
            <a:off x="4798081" y="1657924"/>
            <a:ext cx="7608693" cy="1819275"/>
          </a:xfrm>
          <a:prstGeom prst="rect">
            <a:avLst/>
          </a:prstGeom>
        </p:spPr>
        <p:txBody>
          <a:bodyPr anchor="t" rtlCol="false" tIns="0" lIns="0" bIns="0" rIns="0">
            <a:spAutoFit/>
          </a:bodyPr>
          <a:lstStyle/>
          <a:p>
            <a:pPr algn="l">
              <a:lnSpc>
                <a:spcPts val="13500"/>
              </a:lnSpc>
            </a:pPr>
            <a:r>
              <a:rPr lang="en-US" sz="13500">
                <a:solidFill>
                  <a:srgbClr val="78350F"/>
                </a:solidFill>
                <a:latin typeface="VT323"/>
                <a:ea typeface="VT323"/>
                <a:cs typeface="VT323"/>
                <a:sym typeface="VT323"/>
              </a:rPr>
              <a:t>TIMBER WARS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DAHX4clPq5M</dc:identifier>
  <dcterms:modified xsi:type="dcterms:W3CDTF">2011-08-01T06:04:30Z</dcterms:modified>
  <cp:revision>1</cp:revision>
  <dc:title>GDD - TimberWars</dc:title>
</cp:coreProperties>
</file>